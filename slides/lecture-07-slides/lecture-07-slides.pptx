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32" r:id="rId1"/>
  </p:sldMasterIdLst>
  <p:notesMasterIdLst>
    <p:notesMasterId r:id="rId50"/>
  </p:notesMasterIdLst>
  <p:sldIdLst>
    <p:sldId id="898" r:id="rId2"/>
    <p:sldId id="1342" r:id="rId3"/>
    <p:sldId id="1298" r:id="rId4"/>
    <p:sldId id="1300" r:id="rId5"/>
    <p:sldId id="1299" r:id="rId6"/>
    <p:sldId id="1301" r:id="rId7"/>
    <p:sldId id="1296" r:id="rId8"/>
    <p:sldId id="1303" r:id="rId9"/>
    <p:sldId id="1302" r:id="rId10"/>
    <p:sldId id="1304" r:id="rId11"/>
    <p:sldId id="1305" r:id="rId12"/>
    <p:sldId id="1306" r:id="rId13"/>
    <p:sldId id="1307" r:id="rId14"/>
    <p:sldId id="1308" r:id="rId15"/>
    <p:sldId id="1309" r:id="rId16"/>
    <p:sldId id="1310" r:id="rId17"/>
    <p:sldId id="1311" r:id="rId18"/>
    <p:sldId id="1343" r:id="rId19"/>
    <p:sldId id="1344" r:id="rId20"/>
    <p:sldId id="1345" r:id="rId21"/>
    <p:sldId id="1348" r:id="rId22"/>
    <p:sldId id="1347" r:id="rId23"/>
    <p:sldId id="1346" r:id="rId24"/>
    <p:sldId id="1341" r:id="rId25"/>
    <p:sldId id="1330" r:id="rId26"/>
    <p:sldId id="1331" r:id="rId27"/>
    <p:sldId id="1332" r:id="rId28"/>
    <p:sldId id="1327" r:id="rId29"/>
    <p:sldId id="1328" r:id="rId30"/>
    <p:sldId id="1329" r:id="rId31"/>
    <p:sldId id="1340" r:id="rId32"/>
    <p:sldId id="1326" r:id="rId33"/>
    <p:sldId id="1325" r:id="rId34"/>
    <p:sldId id="1316" r:id="rId35"/>
    <p:sldId id="1353" r:id="rId36"/>
    <p:sldId id="1315" r:id="rId37"/>
    <p:sldId id="1314" r:id="rId38"/>
    <p:sldId id="1313" r:id="rId39"/>
    <p:sldId id="1312" r:id="rId40"/>
    <p:sldId id="1318" r:id="rId41"/>
    <p:sldId id="1349" r:id="rId42"/>
    <p:sldId id="1351" r:id="rId43"/>
    <p:sldId id="1352" r:id="rId44"/>
    <p:sldId id="1355" r:id="rId45"/>
    <p:sldId id="1173" r:id="rId46"/>
    <p:sldId id="1356" r:id="rId47"/>
    <p:sldId id="1357" r:id="rId48"/>
    <p:sldId id="135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9" userDrawn="1">
          <p15:clr>
            <a:srgbClr val="A4A3A4"/>
          </p15:clr>
        </p15:guide>
        <p15:guide id="3" pos="2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B6D7A8"/>
    <a:srgbClr val="FFF2CC"/>
    <a:srgbClr val="F4CCCC"/>
    <a:srgbClr val="C6BEDF"/>
    <a:srgbClr val="FACCDF"/>
    <a:srgbClr val="FDF9C0"/>
    <a:srgbClr val="C1EAF8"/>
    <a:srgbClr val="FCE0E1"/>
    <a:srgbClr val="C2E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990" autoAdjust="0"/>
    <p:restoredTop sz="71537" autoAdjust="0"/>
  </p:normalViewPr>
  <p:slideViewPr>
    <p:cSldViewPr snapToGrid="0" showGuides="1">
      <p:cViewPr varScale="1">
        <p:scale>
          <a:sx n="83" d="100"/>
          <a:sy n="83" d="100"/>
        </p:scale>
        <p:origin x="232" y="296"/>
      </p:cViewPr>
      <p:guideLst>
        <p:guide orient="horz" pos="459"/>
        <p:guide pos="279"/>
      </p:guideLst>
    </p:cSldViewPr>
  </p:slideViewPr>
  <p:notesTextViewPr>
    <p:cViewPr>
      <p:scale>
        <a:sx n="105" d="100"/>
        <a:sy n="10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301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C55E9-3775-47B8-A9FF-F98F72BF2A58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74C5D-8905-4D81-BE92-D035E374EA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86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Pretrained and Fine-Tuning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94030-89A1-44FA-85C8-A64C416128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9109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GLUE</a:t>
            </a:r>
            <a:r>
              <a:rPr lang="zh-CN" altLang="en-US" dirty="0"/>
              <a:t> 是</a:t>
            </a:r>
            <a:r>
              <a:rPr lang="en-US" altLang="zh-CN" dirty="0"/>
              <a:t>2018</a:t>
            </a:r>
            <a:r>
              <a:rPr lang="zh-CN" altLang="en-US" dirty="0"/>
              <a:t>由</a:t>
            </a:r>
            <a:r>
              <a:rPr lang="en-US" altLang="zh-CN" dirty="0"/>
              <a:t>DeepMind</a:t>
            </a:r>
            <a:r>
              <a:rPr lang="zh-CN" altLang="en-US" dirty="0"/>
              <a:t> 华盛顿大学 以及纽约大学开发的，它是一个包含自然语言理解（</a:t>
            </a:r>
            <a:r>
              <a:rPr lang="en-US" dirty="0"/>
              <a:t>NLU）</a:t>
            </a:r>
            <a:r>
              <a:rPr lang="zh-CN" altLang="en-US" dirty="0"/>
              <a:t>任务的集合，包括</a:t>
            </a:r>
            <a:r>
              <a:rPr lang="en-US" altLang="zh-CN" dirty="0"/>
              <a:t>QA</a:t>
            </a:r>
            <a:r>
              <a:rPr lang="zh-CN" altLang="en-US" dirty="0"/>
              <a:t>、情感分析和文本蕴含，以及一个用于模型评估、比较和分析的在线平台。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121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GLUE包含了</a:t>
            </a:r>
            <a:r>
              <a:rPr lang="en-US" altLang="zh-CN" dirty="0"/>
              <a:t>9</a:t>
            </a:r>
            <a:r>
              <a:rPr lang="zh-CN" altLang="en-US" dirty="0"/>
              <a:t>个任务，每一个任务都有对应的训练集和测试集合，以及具体的任务内容、模型评估指标。下面将依次介绍一下每一个任务。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489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CoLA</a:t>
            </a:r>
            <a:r>
              <a:rPr lang="zh-CN" altLang="en-US" dirty="0"/>
              <a:t>，语言可接受性语料库（</a:t>
            </a:r>
            <a:r>
              <a:rPr lang="en-US" dirty="0"/>
              <a:t>The Corpus of Linguistic Acceptability）：</a:t>
            </a:r>
            <a:r>
              <a:rPr lang="zh-CN" altLang="en-US" dirty="0"/>
              <a:t> </a:t>
            </a:r>
            <a:r>
              <a:rPr lang="en-US" dirty="0" err="1"/>
              <a:t>CoLA</a:t>
            </a:r>
            <a:r>
              <a:rPr lang="en-US" dirty="0"/>
              <a:t> </a:t>
            </a:r>
            <a:r>
              <a:rPr lang="zh-CN" altLang="en-US" dirty="0"/>
              <a:t>语料库包括来自 </a:t>
            </a:r>
            <a:r>
              <a:rPr lang="en-US" altLang="zh-CN" dirty="0"/>
              <a:t>23 </a:t>
            </a:r>
            <a:r>
              <a:rPr lang="zh-CN" altLang="en-US" dirty="0"/>
              <a:t>篇语言学出版物的 </a:t>
            </a:r>
            <a:r>
              <a:rPr lang="en-US" altLang="zh-CN" dirty="0"/>
              <a:t>10,657 </a:t>
            </a:r>
            <a:r>
              <a:rPr lang="zh-CN" altLang="en-US" dirty="0"/>
              <a:t>个句子，由原作者根据可接受性（即语法性）进行了专业标注。</a:t>
            </a:r>
            <a:r>
              <a:rPr lang="en-US" altLang="zh-CN" dirty="0"/>
              <a:t>GLUE</a:t>
            </a:r>
            <a:r>
              <a:rPr lang="zh-CN" altLang="en-US" dirty="0"/>
              <a:t>提供的版本包含用于训练和验证集的 </a:t>
            </a:r>
            <a:r>
              <a:rPr lang="en-US" altLang="zh-CN" dirty="0"/>
              <a:t>9,594 </a:t>
            </a:r>
            <a:r>
              <a:rPr lang="zh-CN" altLang="en-US" dirty="0"/>
              <a:t>个句子，排除了属于保留测试集的 </a:t>
            </a:r>
            <a:r>
              <a:rPr lang="en-US" altLang="zh-CN" dirty="0"/>
              <a:t>1,063 </a:t>
            </a:r>
            <a:r>
              <a:rPr lang="zh-CN" altLang="en-US" dirty="0"/>
              <a:t>个句子。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主要从语言学理论的书籍和期刊文章中收集的英语句子，对每一个句子的可接受性进行判断。</a:t>
            </a:r>
          </a:p>
          <a:p>
            <a:r>
              <a:rPr lang="zh-CN" altLang="en-US" dirty="0"/>
              <a:t>每个示例都是一个词序列，并标注其是否为符合语法的英文句子。评分范围为 </a:t>
            </a:r>
            <a:r>
              <a:rPr lang="en-US" altLang="zh-CN" dirty="0"/>
              <a:t>[-1, 1]</a:t>
            </a:r>
            <a:r>
              <a:rPr lang="zh-CN" altLang="en-US" dirty="0"/>
              <a:t>。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评估指标是 </a:t>
            </a:r>
            <a:r>
              <a:rPr lang="en-US" dirty="0"/>
              <a:t>Matthews </a:t>
            </a:r>
            <a:r>
              <a:rPr lang="zh-CN" altLang="en-US" dirty="0"/>
              <a:t>相关系数（</a:t>
            </a:r>
            <a:r>
              <a:rPr lang="en-US" dirty="0"/>
              <a:t>MCC）</a:t>
            </a:r>
            <a:r>
              <a:rPr lang="zh-CN" altLang="en-US" dirty="0"/>
              <a:t>分数。</a:t>
            </a:r>
            <a:r>
              <a:rPr lang="en-US" dirty="0"/>
              <a:t>MCC</a:t>
            </a:r>
            <a:r>
              <a:rPr lang="zh-CN" altLang="en-US" dirty="0"/>
              <a:t>是一种用于评估不平衡二分类器的指标。它是皮尔逊相关系数在</a:t>
            </a:r>
            <a:r>
              <a:rPr lang="en-US" altLang="zh-CN" dirty="0" err="1"/>
              <a:t>boolean</a:t>
            </a:r>
            <a:r>
              <a:rPr lang="zh-CN" altLang="en-US" dirty="0"/>
              <a:t>变量上的一种特例。它衡量的是两个布尔分布之间的相关性，取值范围在 </a:t>
            </a:r>
            <a:r>
              <a:rPr lang="en-US" altLang="zh-CN" dirty="0"/>
              <a:t>-1 </a:t>
            </a:r>
            <a:r>
              <a:rPr lang="zh-CN" altLang="en-US" dirty="0"/>
              <a:t>到 </a:t>
            </a:r>
            <a:r>
              <a:rPr lang="en-US" altLang="zh-CN" dirty="0"/>
              <a:t>1 </a:t>
            </a:r>
            <a:r>
              <a:rPr lang="zh-CN" altLang="en-US" dirty="0"/>
              <a:t>之间。平均而言，任何两个不相关的分布的 </a:t>
            </a:r>
            <a:r>
              <a:rPr lang="en-US" dirty="0"/>
              <a:t>MCC </a:t>
            </a:r>
            <a:r>
              <a:rPr lang="zh-CN" altLang="en-US" dirty="0"/>
              <a:t>都为 </a:t>
            </a:r>
            <a:r>
              <a:rPr lang="en-US" altLang="zh-CN" dirty="0"/>
              <a:t>0</a:t>
            </a:r>
            <a:r>
              <a:rPr lang="zh-CN" altLang="en-US" dirty="0"/>
              <a:t>，无论类别是否不平衡。相比之下，准确率（</a:t>
            </a:r>
            <a:r>
              <a:rPr lang="en-US" dirty="0"/>
              <a:t>accuracy）</a:t>
            </a:r>
            <a:r>
              <a:rPr lang="zh-CN" altLang="en-US" dirty="0"/>
              <a:t>和 </a:t>
            </a:r>
            <a:r>
              <a:rPr lang="en-US" dirty="0"/>
              <a:t>F1 </a:t>
            </a:r>
            <a:r>
              <a:rPr lang="zh-CN" altLang="en-US" dirty="0"/>
              <a:t>分数更偏向于多数类倾斜的分类器。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域内数据（</a:t>
            </a:r>
            <a:r>
              <a:rPr lang="en-US" b="1" dirty="0"/>
              <a:t>In-Domain）</a:t>
            </a:r>
            <a:r>
              <a:rPr lang="en-US" dirty="0"/>
              <a:t>：</a:t>
            </a:r>
            <a:r>
              <a:rPr lang="zh-CN" altLang="en-US" dirty="0"/>
              <a:t>这些句子来自与训练数据在风格、主题和复杂度等方面高度一致的来源。换句话说，这些示例代表了模型最常处理的数据类型，用于评估模型在熟悉语境中的表现。例如，如果训练数据主要由文学英语或标准编辑文本构成，那么域内测试数据也将来自类似的来源。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974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句子来自电影评论，并附有人类对其情感倾向的标注。该任务旨在预测给定句子的情感倾向。我们采用二分类（正面</a:t>
            </a:r>
            <a:r>
              <a:rPr lang="en-US" altLang="zh-CN" dirty="0"/>
              <a:t>/</a:t>
            </a:r>
            <a:r>
              <a:rPr lang="zh-CN" altLang="en-US" dirty="0"/>
              <a:t>负面）的方式，并仅使用句子级别的标签。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r>
              <a:rPr lang="zh-CN" altLang="en-US" dirty="0"/>
              <a:t>风格和流派的令人不安的混杂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它也很严厉，花太多时间在偏执的观点上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《</a:t>
            </a:r>
            <a:r>
              <a:rPr lang="en-US" dirty="0" err="1"/>
              <a:t>waydowntown</a:t>
            </a:r>
            <a:r>
              <a:rPr lang="en-US" dirty="0"/>
              <a:t>》</a:t>
            </a:r>
            <a:r>
              <a:rPr lang="zh-CN" altLang="en-US" dirty="0"/>
              <a:t>绝不是一部完美的电影，但它拥有巨大的魅力和原创性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长达 </a:t>
            </a:r>
            <a:r>
              <a:rPr lang="en-US" altLang="zh-CN" dirty="0"/>
              <a:t>179 </a:t>
            </a:r>
            <a:r>
              <a:rPr lang="zh-CN" altLang="en-US" dirty="0"/>
              <a:t>分钟的对革命本质的非凡思考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开始时发出一声巨响，但最后却像一根湿炸药棒一样嘶嘶作响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620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微软研究院释义语料库（</a:t>
            </a:r>
            <a:r>
              <a:rPr lang="en-US" dirty="0"/>
              <a:t>Microsoft Research Paraphrase </a:t>
            </a:r>
            <a:r>
              <a:rPr lang="en-US" dirty="0" err="1"/>
              <a:t>Corpus，MRPC</a:t>
            </a:r>
            <a:r>
              <a:rPr lang="en-US" dirty="0"/>
              <a:t>）</a:t>
            </a:r>
          </a:p>
          <a:p>
            <a:r>
              <a:rPr lang="zh-CN" altLang="en-US" dirty="0"/>
              <a:t>该语料库由成对的句子组成，并附有人类对句子语义是否等价的标注。</a:t>
            </a:r>
          </a:p>
          <a:p>
            <a:r>
              <a:rPr lang="zh-CN" altLang="en-US" dirty="0"/>
              <a:t>类别分布不均衡（</a:t>
            </a:r>
            <a:r>
              <a:rPr lang="en-US" altLang="zh-CN" dirty="0"/>
              <a:t>68% </a:t>
            </a:r>
            <a:r>
              <a:rPr lang="zh-CN" altLang="en-US" dirty="0"/>
              <a:t>为正类），因此评估时同时报告准确率（</a:t>
            </a:r>
            <a:r>
              <a:rPr lang="en-US" dirty="0"/>
              <a:t>Accuracy）</a:t>
            </a:r>
            <a:r>
              <a:rPr lang="zh-CN" altLang="en-US" dirty="0"/>
              <a:t>和 </a:t>
            </a:r>
            <a:r>
              <a:rPr lang="en-US" dirty="0"/>
              <a:t>F1 </a:t>
            </a:r>
            <a:r>
              <a:rPr lang="zh-CN" altLang="en-US" dirty="0"/>
              <a:t>分数。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215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442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14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多领域自然语言推理语料库（</a:t>
            </a:r>
            <a:r>
              <a:rPr lang="en-US" dirty="0"/>
              <a:t>Multi-Genre Natural Language Inference </a:t>
            </a:r>
            <a:r>
              <a:rPr lang="en-US" dirty="0" err="1"/>
              <a:t>Corpus，MNLI</a:t>
            </a:r>
            <a:r>
              <a:rPr lang="en-US" dirty="0"/>
              <a:t>）</a:t>
            </a:r>
          </a:p>
          <a:p>
            <a:r>
              <a:rPr lang="zh-CN" altLang="en-US" dirty="0"/>
              <a:t>该语料库收集（众包）的句子对组成，并标注了推理关系：蕴含（</a:t>
            </a:r>
            <a:r>
              <a:rPr lang="en-US" dirty="0"/>
              <a:t>entailment，0）、</a:t>
            </a:r>
            <a:r>
              <a:rPr lang="zh-CN" altLang="en-US" dirty="0"/>
              <a:t>矛盾（</a:t>
            </a:r>
            <a:r>
              <a:rPr lang="en-US" dirty="0"/>
              <a:t>contradiction，2）</a:t>
            </a:r>
            <a:r>
              <a:rPr lang="zh-CN" altLang="en-US" dirty="0"/>
              <a:t>和中性（</a:t>
            </a:r>
            <a:r>
              <a:rPr lang="en-US" dirty="0"/>
              <a:t>neutral，1）。</a:t>
            </a:r>
          </a:p>
          <a:p>
            <a:r>
              <a:rPr lang="zh-CN" altLang="en-US" dirty="0"/>
              <a:t>任务目标是预测这三类标签，评估指标为准确率（</a:t>
            </a:r>
            <a:r>
              <a:rPr lang="en-US" dirty="0"/>
              <a:t>accuracy）。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753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斯坦福问答数据集（</a:t>
            </a:r>
            <a:r>
              <a:rPr lang="en-US" dirty="0"/>
              <a:t>The Stanford Question Answering </a:t>
            </a:r>
            <a:r>
              <a:rPr lang="en-US" dirty="0" err="1"/>
              <a:t>Dataset，QNLI</a:t>
            </a:r>
            <a:r>
              <a:rPr lang="en-US" dirty="0"/>
              <a:t>，</a:t>
            </a:r>
            <a:r>
              <a:rPr lang="zh-CN" altLang="en-US" dirty="0"/>
              <a:t>基于 </a:t>
            </a:r>
            <a:r>
              <a:rPr lang="en-US" dirty="0" err="1"/>
              <a:t>SQuAD</a:t>
            </a:r>
            <a:r>
              <a:rPr lang="en-US" dirty="0"/>
              <a:t>）</a:t>
            </a:r>
          </a:p>
          <a:p>
            <a:r>
              <a:rPr lang="zh-CN" altLang="en-US" dirty="0"/>
              <a:t>该任务被转换为句子对分类任务：将每个问题与对应语境中的每个句子配对，并过滤掉与问题在词汇上重合度较低的句子对。</a:t>
            </a:r>
          </a:p>
          <a:p>
            <a:r>
              <a:rPr lang="zh-CN" altLang="en-US" dirty="0"/>
              <a:t>任务目标是预测“是（</a:t>
            </a:r>
            <a:r>
              <a:rPr lang="en-US" dirty="0"/>
              <a:t>yes，0）”</a:t>
            </a:r>
            <a:r>
              <a:rPr lang="zh-CN" altLang="en-US" dirty="0"/>
              <a:t>或“否（</a:t>
            </a:r>
            <a:r>
              <a:rPr lang="en-US" dirty="0"/>
              <a:t>no，1）”，</a:t>
            </a:r>
            <a:r>
              <a:rPr lang="zh-CN" altLang="en-US" dirty="0"/>
              <a:t>即判断该语境句子是否包含问题的答案。</a:t>
            </a:r>
          </a:p>
          <a:p>
            <a:endParaRPr lang="en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一些小诗被收录在</a:t>
            </a:r>
            <a:r>
              <a:rPr lang="en-US" altLang="zh-CN" dirty="0"/>
              <a:t>《</a:t>
            </a:r>
            <a:r>
              <a:rPr lang="zh-CN" altLang="en-US" dirty="0"/>
              <a:t>维吉尔附录</a:t>
            </a:r>
            <a:r>
              <a:rPr lang="en-US" altLang="zh-CN" dirty="0"/>
              <a:t>》</a:t>
            </a:r>
            <a:r>
              <a:rPr lang="zh-CN" altLang="en-US" dirty="0"/>
              <a:t>中，有时被认为是他写的。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968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文本蕴含识别任务（</a:t>
            </a:r>
            <a:r>
              <a:rPr lang="en-US" dirty="0"/>
              <a:t>Recognizing Textual </a:t>
            </a:r>
            <a:r>
              <a:rPr lang="en-US" dirty="0" err="1"/>
              <a:t>Entailment，RTE</a:t>
            </a:r>
            <a:r>
              <a:rPr lang="en-US" dirty="0"/>
              <a:t>）</a:t>
            </a:r>
          </a:p>
          <a:p>
            <a:r>
              <a:rPr lang="zh-CN" altLang="en-US" dirty="0"/>
              <a:t>该任务旨在判断句子对之间是否存在蕴含关系，预测结果为“蕴含（</a:t>
            </a:r>
            <a:r>
              <a:rPr lang="en-US" dirty="0"/>
              <a:t>entailment，0）”</a:t>
            </a:r>
            <a:r>
              <a:rPr lang="zh-CN" altLang="en-US" dirty="0"/>
              <a:t>或“非蕴含（</a:t>
            </a:r>
            <a:r>
              <a:rPr lang="en-US" dirty="0"/>
              <a:t>not entailment，1）”。</a:t>
            </a:r>
          </a:p>
          <a:p>
            <a:endParaRPr lang="en-US" b="1" i="0" dirty="0">
              <a:solidFill>
                <a:srgbClr val="202122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尤科斯石油公司（</a:t>
            </a:r>
            <a:r>
              <a:rPr lang="en-US" dirty="0"/>
              <a:t>OJSC “Yukos Oil Company”）</a:t>
            </a:r>
            <a:r>
              <a:rPr lang="zh-CN" altLang="en-US" dirty="0"/>
              <a:t>是一家总部位于俄罗斯莫斯科的石油天然气公司。</a:t>
            </a:r>
          </a:p>
          <a:p>
            <a:endParaRPr lang="en-US" b="1" i="0" dirty="0">
              <a:solidFill>
                <a:srgbClr val="202122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556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Winograd Schema </a:t>
            </a:r>
            <a:r>
              <a:rPr lang="en-US" dirty="0" err="1"/>
              <a:t>Challenge，WNLI</a:t>
            </a:r>
            <a:r>
              <a:rPr lang="zh-CN" altLang="en-US" dirty="0"/>
              <a:t>：阅读理解任务，旨在通过判断两个句子之间的蕴含关系来识别代词的指代对象（其中一个句子明确指代对象）。</a:t>
            </a:r>
          </a:p>
          <a:p>
            <a:r>
              <a:rPr lang="zh-CN" altLang="en-US" dirty="0"/>
              <a:t>任务目标是预测 </a:t>
            </a:r>
            <a:r>
              <a:rPr lang="en-US" altLang="zh-CN" dirty="0"/>
              <a:t>1</a:t>
            </a:r>
            <a:r>
              <a:rPr lang="zh-CN" altLang="en-US" dirty="0"/>
              <a:t>（存在蕴含关系）或 </a:t>
            </a:r>
            <a:r>
              <a:rPr lang="en-US" altLang="zh-CN" dirty="0"/>
              <a:t>0</a:t>
            </a:r>
            <a:r>
              <a:rPr lang="zh-CN" altLang="en-US" dirty="0"/>
              <a:t>（不存在蕴含关系）。</a:t>
            </a:r>
          </a:p>
          <a:p>
            <a:r>
              <a:rPr lang="zh-CN" altLang="en-US" dirty="0"/>
              <a:t>该任务旨在迷惑简单的统计方法。</a:t>
            </a:r>
          </a:p>
          <a:p>
            <a:r>
              <a:rPr lang="zh-CN" altLang="en-US" dirty="0"/>
              <a:t>测试集类别不平衡（</a:t>
            </a:r>
            <a:r>
              <a:rPr lang="en-US" altLang="zh-CN" dirty="0"/>
              <a:t>65% </a:t>
            </a:r>
            <a:r>
              <a:rPr lang="zh-CN" altLang="en-US" dirty="0"/>
              <a:t>为非蕴含），开发集具有对抗性，依赖记忆的模型会表现不佳。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796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579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SuperGLUE</a:t>
            </a:r>
            <a:r>
              <a:rPr lang="en-US" dirty="0"/>
              <a:t> </a:t>
            </a:r>
            <a:r>
              <a:rPr lang="zh-CN" altLang="en-US" dirty="0"/>
              <a:t>所包含的任务。</a:t>
            </a:r>
            <a:r>
              <a:rPr lang="en-US" dirty="0"/>
              <a:t>WSD </a:t>
            </a:r>
            <a:r>
              <a:rPr lang="zh-CN" altLang="en-US" dirty="0"/>
              <a:t>词义消歧（</a:t>
            </a:r>
            <a:r>
              <a:rPr lang="en-US" dirty="0"/>
              <a:t>word sense disambiguation），NLI </a:t>
            </a:r>
            <a:r>
              <a:rPr lang="zh-CN" altLang="en-US" dirty="0"/>
              <a:t>自然语言推理（</a:t>
            </a:r>
            <a:r>
              <a:rPr lang="en-US" dirty="0"/>
              <a:t>natural language inference），</a:t>
            </a:r>
            <a:r>
              <a:rPr lang="en-US" dirty="0" err="1"/>
              <a:t>coref</a:t>
            </a:r>
            <a:r>
              <a:rPr lang="en-US" dirty="0"/>
              <a:t>. </a:t>
            </a:r>
            <a:r>
              <a:rPr lang="zh-CN" altLang="en-US" dirty="0"/>
              <a:t>表示指代消解（</a:t>
            </a:r>
            <a:r>
              <a:rPr lang="en-US" dirty="0"/>
              <a:t>coreference resolution），QA </a:t>
            </a:r>
            <a:r>
              <a:rPr lang="zh-CN" altLang="en-US" dirty="0"/>
              <a:t>表示问答（</a:t>
            </a:r>
            <a:r>
              <a:rPr lang="en-US" dirty="0"/>
              <a:t>question answering）。</a:t>
            </a:r>
            <a:r>
              <a:rPr lang="zh-CN" altLang="en-US" dirty="0"/>
              <a:t>对于 </a:t>
            </a:r>
            <a:r>
              <a:rPr lang="en-US" dirty="0" err="1"/>
              <a:t>MultiRC</a:t>
            </a:r>
            <a:r>
              <a:rPr lang="en-US" dirty="0"/>
              <a:t>，</a:t>
            </a:r>
            <a:r>
              <a:rPr lang="zh-CN" altLang="en-US" dirty="0"/>
              <a:t>列出了训练集、开发集和测试集问题所对应的总回答数，分别为 </a:t>
            </a:r>
            <a:r>
              <a:rPr lang="en-US" altLang="zh-CN" dirty="0"/>
              <a:t>456/83/166</a:t>
            </a:r>
            <a:r>
              <a:rPr lang="zh-CN" altLang="en-US" dirty="0"/>
              <a:t>。</a:t>
            </a:r>
            <a:r>
              <a:rPr lang="en-US" dirty="0" err="1"/>
              <a:t>MultiRC</a:t>
            </a:r>
            <a:r>
              <a:rPr lang="en-US" dirty="0"/>
              <a:t> </a:t>
            </a:r>
            <a:r>
              <a:rPr lang="zh-CN" altLang="en-US" dirty="0"/>
              <a:t>的评估指标为：所有答案选项上的二分类 </a:t>
            </a:r>
            <a:r>
              <a:rPr lang="en-US" dirty="0"/>
              <a:t>F1 </a:t>
            </a:r>
            <a:r>
              <a:rPr lang="zh-CN" altLang="en-US" dirty="0"/>
              <a:t>分数和完全匹配（</a:t>
            </a:r>
            <a:r>
              <a:rPr lang="en-US" dirty="0"/>
              <a:t>exact match）</a:t>
            </a:r>
            <a:r>
              <a:rPr lang="zh-CN" altLang="en-US" dirty="0"/>
              <a:t>分数。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0066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inducted into : to admit as a member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213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CommitmentBank（CB</a:t>
            </a:r>
            <a:r>
              <a:rPr lang="en-US" dirty="0"/>
              <a:t>）：</a:t>
            </a:r>
            <a:r>
              <a:rPr lang="zh-CN" altLang="en-US" dirty="0"/>
              <a:t>判断作者是否对嵌套从句的真实性表达了承诺。每个示例由一个包含嵌套从句的前提句组成，其对应的假设则是从该从句中提取出来的内容。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6986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合理选项选择任务（</a:t>
            </a:r>
            <a:r>
              <a:rPr lang="en-US" dirty="0"/>
              <a:t>Choice of Plausible Alternatives），</a:t>
            </a:r>
            <a:r>
              <a:rPr lang="zh-CN" altLang="en-US" dirty="0"/>
              <a:t>是一项因果推理任务。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358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 err="1"/>
              <a:t>WiC</a:t>
            </a:r>
            <a:r>
              <a:rPr lang="zh-CN" altLang="en-US" dirty="0"/>
              <a:t>的例子里面，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语境 </a:t>
            </a:r>
            <a:r>
              <a:rPr lang="en-US" altLang="zh-CN" dirty="0"/>
              <a:t>1</a:t>
            </a:r>
            <a:r>
              <a:rPr lang="zh-CN" altLang="en-US" dirty="0"/>
              <a:t>：食宿。</a:t>
            </a:r>
          </a:p>
          <a:p>
            <a:r>
              <a:rPr lang="zh-CN" altLang="en-US" dirty="0"/>
              <a:t>语境 </a:t>
            </a:r>
            <a:r>
              <a:rPr lang="en-US" altLang="zh-CN" dirty="0"/>
              <a:t>2</a:t>
            </a:r>
            <a:r>
              <a:rPr lang="zh-CN" altLang="en-US" dirty="0"/>
              <a:t>：他在窗户上钉上了木板。</a:t>
            </a:r>
          </a:p>
          <a:p>
            <a:endParaRPr lang="en-US" altLang="zh-CN" dirty="0"/>
          </a:p>
          <a:p>
            <a:r>
              <a:rPr lang="zh-CN" altLang="en-US" dirty="0"/>
              <a:t>词义匹配：否（</a:t>
            </a:r>
            <a:r>
              <a:rPr lang="en-US" dirty="0"/>
              <a:t>False）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5503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指代消解任务（</a:t>
            </a:r>
            <a:r>
              <a:rPr lang="en-US" dirty="0"/>
              <a:t>Coreference resolution task），</a:t>
            </a:r>
            <a:r>
              <a:rPr lang="zh-CN" altLang="en-US" dirty="0"/>
              <a:t>每个示例由一个包含代词的句子以及该句子中的名词短语列表组成。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7594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SWAG（Situations</a:t>
            </a:r>
            <a:r>
              <a:rPr lang="en-US" dirty="0"/>
              <a:t> With Adversarial Generations）</a:t>
            </a:r>
            <a:r>
              <a:rPr lang="zh-CN" altLang="en-US" dirty="0"/>
              <a:t>是一个用于常识推理的大规模对抗性数据集。</a:t>
            </a:r>
          </a:p>
          <a:p>
            <a:r>
              <a:rPr lang="zh-CN" altLang="en-US" dirty="0"/>
              <a:t>该新数据集包含 </a:t>
            </a:r>
            <a:r>
              <a:rPr lang="en-US" altLang="zh-CN" dirty="0"/>
              <a:t>11.3 </a:t>
            </a:r>
            <a:r>
              <a:rPr lang="zh-CN" altLang="en-US" dirty="0"/>
              <a:t>万道多项选择题，涵盖了丰富多样的具体情境。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给出一个不完整的描述：“她打开了汽车的引擎盖”，我们可以推理出：“然后，她检查了发动机”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该数据集通过对抗性过滤（</a:t>
            </a:r>
            <a:r>
              <a:rPr lang="en-US" dirty="0"/>
              <a:t>Adversarial Filtering）</a:t>
            </a:r>
            <a:r>
              <a:rPr lang="zh-CN" altLang="en-US" dirty="0"/>
              <a:t>构建，以识别那些基于语义而非词汇重叠的答案。示例：“在舞台上，一位女士坐到了钢琴前。”接下来会发生什么？</a:t>
            </a:r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在舞台上，一位女士坐到了钢琴前。她接下来：</a:t>
            </a:r>
          </a:p>
          <a:p>
            <a:r>
              <a:rPr lang="en-US" dirty="0"/>
              <a:t>a) </a:t>
            </a:r>
            <a:r>
              <a:rPr lang="zh-CN" altLang="en-US" dirty="0"/>
              <a:t>坐在长椅上，而她的妹妹在玩洋娃娃。</a:t>
            </a:r>
          </a:p>
          <a:p>
            <a:r>
              <a:rPr lang="en-US" dirty="0"/>
              <a:t>b) </a:t>
            </a:r>
            <a:r>
              <a:rPr lang="zh-CN" altLang="en-US" dirty="0"/>
              <a:t>随着音乐的响起与某人微笑互动。</a:t>
            </a:r>
          </a:p>
          <a:p>
            <a:r>
              <a:rPr lang="en-US" dirty="0"/>
              <a:t>c) </a:t>
            </a:r>
            <a:r>
              <a:rPr lang="zh-CN" altLang="en-US" dirty="0"/>
              <a:t>坐在人群中观看舞者表演。</a:t>
            </a:r>
          </a:p>
          <a:p>
            <a:r>
              <a:rPr lang="en-US" dirty="0"/>
              <a:t>d) </a:t>
            </a:r>
            <a:r>
              <a:rPr lang="zh-CN" altLang="en-US" dirty="0"/>
              <a:t>紧张地把手指放在琴键上。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一个女孩正在穿越一组单杠。她接下来会：</a:t>
            </a:r>
          </a:p>
          <a:p>
            <a:r>
              <a:rPr lang="en-US" dirty="0"/>
              <a:t>a) </a:t>
            </a:r>
            <a:r>
              <a:rPr lang="zh-CN" altLang="en-US" dirty="0"/>
              <a:t>跳起来穿过单杠。</a:t>
            </a:r>
          </a:p>
          <a:p>
            <a:r>
              <a:rPr lang="en-US" dirty="0"/>
              <a:t>b) </a:t>
            </a:r>
            <a:r>
              <a:rPr lang="zh-CN" altLang="en-US" dirty="0"/>
              <a:t>吃力地爬上单杠去抓她的头。</a:t>
            </a:r>
          </a:p>
          <a:p>
            <a:r>
              <a:rPr lang="en-US" dirty="0"/>
              <a:t>c) </a:t>
            </a:r>
            <a:r>
              <a:rPr lang="zh-CN" altLang="en-US" dirty="0"/>
              <a:t>到达末端并站在一块木板上。</a:t>
            </a:r>
          </a:p>
          <a:p>
            <a:r>
              <a:rPr lang="en-US" dirty="0"/>
              <a:t>d) </a:t>
            </a:r>
            <a:r>
              <a:rPr lang="zh-CN" altLang="en-US" dirty="0"/>
              <a:t>跳起来做了一个后空翻。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4401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我们的语料库由 </a:t>
            </a:r>
            <a:r>
              <a:rPr lang="en-US" altLang="zh-CN" dirty="0"/>
              <a:t>11.3 </a:t>
            </a:r>
            <a:r>
              <a:rPr lang="zh-CN" altLang="en-US" dirty="0"/>
              <a:t>万道多项选择题组成（包括 </a:t>
            </a:r>
            <a:r>
              <a:rPr lang="en-US" altLang="zh-CN" dirty="0"/>
              <a:t>7.3 </a:t>
            </a:r>
            <a:r>
              <a:rPr lang="zh-CN" altLang="en-US" dirty="0"/>
              <a:t>万条训练数据，</a:t>
            </a:r>
            <a:r>
              <a:rPr lang="en-US" altLang="zh-CN" dirty="0"/>
              <a:t>2 </a:t>
            </a:r>
            <a:r>
              <a:rPr lang="zh-CN" altLang="en-US" dirty="0"/>
              <a:t>万条验证数据，</a:t>
            </a:r>
            <a:r>
              <a:rPr lang="en-US" altLang="zh-CN" dirty="0"/>
              <a:t>2 </a:t>
            </a:r>
            <a:r>
              <a:rPr lang="zh-CN" altLang="en-US" dirty="0"/>
              <a:t>万条测试数据），来源于 </a:t>
            </a:r>
            <a:r>
              <a:rPr lang="en-US" dirty="0" err="1"/>
              <a:t>ActivityNet</a:t>
            </a:r>
            <a:r>
              <a:rPr lang="en-US" dirty="0"/>
              <a:t> Captions </a:t>
            </a:r>
            <a:r>
              <a:rPr lang="zh-CN" altLang="en-US" dirty="0"/>
              <a:t>和 </a:t>
            </a:r>
            <a:r>
              <a:rPr lang="en-US" dirty="0"/>
              <a:t>Large Scale Movie Description Challenge </a:t>
            </a:r>
            <a:r>
              <a:rPr lang="zh-CN" altLang="en-US" dirty="0"/>
              <a:t>中一对对连续的视频字幕。</a:t>
            </a:r>
          </a:p>
          <a:p>
            <a:endParaRPr lang="en-US" altLang="zh-CN" dirty="0"/>
          </a:p>
          <a:p>
            <a:r>
              <a:rPr lang="zh-CN" altLang="en-US" dirty="0"/>
              <a:t>对于每对字幕，我们使用成分句法分析器将第二句拆分为名词短语和动词短语。</a:t>
            </a:r>
          </a:p>
          <a:p>
            <a:endParaRPr lang="en-US" altLang="zh-CN" dirty="0"/>
          </a:p>
          <a:p>
            <a:r>
              <a:rPr lang="zh-CN" altLang="en-US" dirty="0"/>
              <a:t>每个问题都包含一个由人工验证的正确结尾（</a:t>
            </a:r>
            <a:r>
              <a:rPr lang="en-US" dirty="0"/>
              <a:t>gold ending）</a:t>
            </a:r>
            <a:r>
              <a:rPr lang="zh-CN" altLang="en-US" dirty="0"/>
              <a:t>和三个干扰选项（</a:t>
            </a:r>
            <a:r>
              <a:rPr lang="en-US" dirty="0"/>
              <a:t>distractors）。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8653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一位服务员拿来了一把叉子。服务员接下来：</a:t>
            </a:r>
          </a:p>
          <a:p>
            <a:r>
              <a:rPr lang="en-US" dirty="0"/>
              <a:t>a) </a:t>
            </a:r>
            <a:r>
              <a:rPr lang="zh-CN" altLang="en-US" dirty="0"/>
              <a:t>开始转身离开。</a:t>
            </a:r>
            <a:r>
              <a:rPr lang="zh-CN" altLang="en-US" b="1" dirty="0"/>
              <a:t>（</a:t>
            </a:r>
            <a:r>
              <a:rPr lang="en-US" altLang="zh-CN" b="1" dirty="0"/>
              <a:t>74.76%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b) </a:t>
            </a:r>
            <a:r>
              <a:rPr lang="zh-CN" altLang="en-US" dirty="0"/>
              <a:t>往桌上添加了意大利面。</a:t>
            </a:r>
            <a:r>
              <a:rPr lang="zh-CN" altLang="en-US" b="1" dirty="0"/>
              <a:t>（</a:t>
            </a:r>
            <a:r>
              <a:rPr lang="en-US" altLang="zh-CN" b="1" dirty="0"/>
              <a:t>21.57%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c) </a:t>
            </a:r>
            <a:r>
              <a:rPr lang="zh-CN" altLang="en-US" dirty="0"/>
              <a:t>把一堆馅饼端到了食物旁。</a:t>
            </a:r>
            <a:r>
              <a:rPr lang="zh-CN" altLang="en-US" b="1" dirty="0"/>
              <a:t>（</a:t>
            </a:r>
            <a:r>
              <a:rPr lang="en-US" altLang="zh-CN" b="1" dirty="0"/>
              <a:t>2.67%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d) </a:t>
            </a:r>
            <a:r>
              <a:rPr lang="zh-CN" altLang="en-US" dirty="0"/>
              <a:t>从碗里的杯子里喝水。</a:t>
            </a:r>
            <a:r>
              <a:rPr lang="zh-CN" altLang="en-US" b="1" dirty="0"/>
              <a:t>（</a:t>
            </a:r>
            <a:r>
              <a:rPr lang="en-US" altLang="zh-CN" b="1" dirty="0"/>
              <a:t>0.98%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一位老人正在驾驶一辆小型碰碰车。几个人接下来：</a:t>
            </a:r>
          </a:p>
          <a:p>
            <a:r>
              <a:rPr lang="en-US" dirty="0"/>
              <a:t>a) </a:t>
            </a:r>
            <a:r>
              <a:rPr lang="zh-CN" altLang="en-US" dirty="0"/>
              <a:t>进入停车场。</a:t>
            </a:r>
            <a:r>
              <a:rPr lang="zh-CN" altLang="en-US" b="1" dirty="0"/>
              <a:t>（</a:t>
            </a:r>
            <a:r>
              <a:rPr lang="en-US" altLang="zh-CN" b="1" dirty="0"/>
              <a:t>76.58%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b) </a:t>
            </a:r>
            <a:r>
              <a:rPr lang="zh-CN" altLang="en-US" dirty="0"/>
              <a:t>在车里等待。</a:t>
            </a:r>
            <a:r>
              <a:rPr lang="zh-CN" altLang="en-US" b="1" dirty="0"/>
              <a:t>（</a:t>
            </a:r>
            <a:r>
              <a:rPr lang="en-US" altLang="zh-CN" b="1" dirty="0"/>
              <a:t>15.28%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c) </a:t>
            </a:r>
            <a:r>
              <a:rPr lang="zh-CN" altLang="en-US" dirty="0"/>
              <a:t>被其他碰碰车卡住了。</a:t>
            </a:r>
            <a:r>
              <a:rPr lang="zh-CN" altLang="en-US" b="1" dirty="0"/>
              <a:t>（</a:t>
            </a:r>
            <a:r>
              <a:rPr lang="en-US" altLang="zh-CN" b="1" dirty="0"/>
              <a:t>6.75%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d) </a:t>
            </a:r>
            <a:r>
              <a:rPr lang="zh-CN" altLang="en-US" dirty="0"/>
              <a:t>正在沿着马路奔跑。</a:t>
            </a:r>
            <a:r>
              <a:rPr lang="zh-CN" altLang="en-US" b="1" dirty="0"/>
              <a:t>（</a:t>
            </a:r>
            <a:r>
              <a:rPr lang="en-US" altLang="zh-CN" b="1" dirty="0"/>
              <a:t>1.39%</a:t>
            </a:r>
            <a:r>
              <a:rPr lang="zh-CN" altLang="en-US" b="1" dirty="0"/>
              <a:t>）</a:t>
            </a:r>
            <a:endParaRPr lang="zh-CN" altLang="en-US" dirty="0"/>
          </a:p>
          <a:p>
            <a:endParaRPr lang="en-US" altLang="zh-CN" b="1" dirty="0"/>
          </a:p>
          <a:p>
            <a:r>
              <a:rPr lang="zh-CN" altLang="en-US" dirty="0"/>
              <a:t>他把生鸡蛋糊倒进锅里。他接下来：</a:t>
            </a:r>
          </a:p>
          <a:p>
            <a:r>
              <a:rPr lang="en-US" dirty="0"/>
              <a:t>a) </a:t>
            </a:r>
            <a:r>
              <a:rPr lang="zh-CN" altLang="en-US" dirty="0"/>
              <a:t>把小锅倒扣在盘子上。</a:t>
            </a:r>
            <a:r>
              <a:rPr lang="zh-CN" altLang="en-US" b="1" dirty="0"/>
              <a:t>（</a:t>
            </a:r>
            <a:r>
              <a:rPr lang="en-US" altLang="zh-CN" b="1" dirty="0"/>
              <a:t>93.48%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b) </a:t>
            </a:r>
            <a:r>
              <a:rPr lang="zh-CN" altLang="en-US" dirty="0"/>
              <a:t>拿起锅晃动，使鸡蛋在锅中移动。</a:t>
            </a:r>
            <a:r>
              <a:rPr lang="zh-CN" altLang="en-US" b="1" dirty="0"/>
              <a:t>（</a:t>
            </a:r>
            <a:r>
              <a:rPr lang="en-US" altLang="zh-CN" b="1" dirty="0"/>
              <a:t>4.94%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c) </a:t>
            </a:r>
            <a:r>
              <a:rPr lang="zh-CN" altLang="en-US" dirty="0"/>
              <a:t>把面团搅拌成风筝状。</a:t>
            </a:r>
            <a:r>
              <a:rPr lang="zh-CN" altLang="en-US" b="1" dirty="0"/>
              <a:t>（</a:t>
            </a:r>
            <a:r>
              <a:rPr lang="en-US" altLang="zh-CN" b="1" dirty="0"/>
              <a:t>1.53%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d) </a:t>
            </a:r>
            <a:r>
              <a:rPr lang="zh-CN" altLang="en-US" dirty="0"/>
              <a:t>在粘合剂下搅动搅拌器。</a:t>
            </a:r>
            <a:r>
              <a:rPr lang="zh-CN" altLang="en-US" b="1" dirty="0"/>
              <a:t>（</a:t>
            </a:r>
            <a:r>
              <a:rPr lang="en-US" altLang="zh-CN" b="1" dirty="0"/>
              <a:t>0.05%</a:t>
            </a:r>
            <a:r>
              <a:rPr lang="zh-CN" altLang="en-US" b="1" dirty="0"/>
              <a:t>）</a:t>
            </a:r>
            <a:endParaRPr lang="zh-CN" altLang="en-US" dirty="0"/>
          </a:p>
          <a:p>
            <a:endParaRPr lang="en-US" altLang="zh-C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9501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模型可以帮你补全句子吗？ 请为以下语境选择一个最合适的结尾：</a:t>
            </a:r>
          </a:p>
          <a:p>
            <a:endParaRPr lang="zh-CN" altLang="en-US" dirty="0"/>
          </a:p>
          <a:p>
            <a:r>
              <a:rPr lang="zh-CN" altLang="en-US" dirty="0"/>
              <a:t>如何捉蜻蜓：使用带长柄、开口大的中空捕虫网。选择一个直径为 </a:t>
            </a:r>
            <a:r>
              <a:rPr lang="en-US" altLang="zh-CN" dirty="0"/>
              <a:t>18 </a:t>
            </a:r>
            <a:r>
              <a:rPr lang="zh-CN" altLang="en-US" dirty="0"/>
              <a:t>英寸（</a:t>
            </a:r>
            <a:r>
              <a:rPr lang="en-US" altLang="zh-CN" dirty="0"/>
              <a:t>46 </a:t>
            </a:r>
            <a:r>
              <a:rPr lang="zh-CN" altLang="en-US" dirty="0"/>
              <a:t>厘米）或更大的捕虫网。寻找一款手柄足够长的</a:t>
            </a:r>
            <a:r>
              <a:rPr lang="en-US" altLang="zh-CN" dirty="0"/>
              <a:t>……</a:t>
            </a:r>
          </a:p>
          <a:p>
            <a:endParaRPr lang="en-CN" dirty="0"/>
          </a:p>
          <a:p>
            <a:r>
              <a:rPr lang="en-US" b="1" dirty="0"/>
              <a:t>a)</a:t>
            </a:r>
            <a:r>
              <a:rPr lang="en-US" dirty="0"/>
              <a:t> </a:t>
            </a:r>
            <a:r>
              <a:rPr lang="zh-CN" altLang="en-US" dirty="0"/>
              <a:t>将一段丝带绕过手柄一圈。将软管或软管放在网兜上，并用绳子牢牢绑好。</a:t>
            </a:r>
          </a:p>
          <a:p>
            <a:r>
              <a:rPr lang="en-US" b="1" dirty="0"/>
              <a:t>b)</a:t>
            </a:r>
            <a:r>
              <a:rPr lang="en-US" dirty="0"/>
              <a:t> </a:t>
            </a:r>
            <a:r>
              <a:rPr lang="zh-CN" altLang="en-US" dirty="0"/>
              <a:t>用双脚伸入网兜。当你抬起双脚时，身体和头部向前移动。</a:t>
            </a:r>
          </a:p>
          <a:p>
            <a:r>
              <a:rPr lang="en-US" b="1" dirty="0"/>
              <a:t>c)</a:t>
            </a:r>
            <a:r>
              <a:rPr lang="en-US" dirty="0"/>
              <a:t> </a:t>
            </a:r>
            <a:r>
              <a:rPr lang="zh-CN" altLang="en-US" dirty="0"/>
              <a:t>如果可能的话，选择深色的网兜而不是浅色的。深色网兜对蜻蜓来说更难被看见，因此也更难躲避。</a:t>
            </a:r>
          </a:p>
          <a:p>
            <a:r>
              <a:rPr lang="en-US" b="1" dirty="0"/>
              <a:t>d)</a:t>
            </a:r>
            <a:r>
              <a:rPr lang="en-US" dirty="0"/>
              <a:t> </a:t>
            </a:r>
            <a:r>
              <a:rPr lang="zh-CN" altLang="en-US" dirty="0"/>
              <a:t>如果网兜不够结实，无法让你轻松操作，可以使用一端比另一端短的手持网兜。网兜的底部应有一些小孔。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0977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例如，下面的一个例子，</a:t>
            </a:r>
            <a:br>
              <a:rPr lang="zh-CN" altLang="en-US" dirty="0"/>
            </a:br>
            <a:r>
              <a:rPr lang="zh-CN" altLang="en-US" dirty="0"/>
              <a:t>一位女士在户外，身边有一个水桶和一只狗。狗在四处奔跑，试图躲避洗澡。她</a:t>
            </a:r>
            <a:r>
              <a:rPr lang="en-US" altLang="zh-CN" dirty="0"/>
              <a:t>……</a:t>
            </a:r>
            <a:endParaRPr lang="zh-CN" altLang="en-US" dirty="0"/>
          </a:p>
          <a:p>
            <a:r>
              <a:rPr lang="en-US" dirty="0"/>
              <a:t>A. </a:t>
            </a:r>
            <a:r>
              <a:rPr lang="zh-CN" altLang="en-US" dirty="0"/>
              <a:t>用肥皂冲洗水桶，并用吹风机吹干狗的头。</a:t>
            </a:r>
          </a:p>
          <a:p>
            <a:r>
              <a:rPr lang="en-US" dirty="0"/>
              <a:t>B. </a:t>
            </a:r>
            <a:r>
              <a:rPr lang="zh-CN" altLang="en-US" dirty="0"/>
              <a:t>用水管冲水，以防狗弄得全身是泡沫。</a:t>
            </a:r>
          </a:p>
          <a:p>
            <a:r>
              <a:rPr lang="en-US" dirty="0"/>
              <a:t>C. </a:t>
            </a:r>
            <a:r>
              <a:rPr lang="zh-CN" altLang="en-US" dirty="0"/>
              <a:t>把狗弄湿了，然后狗又跑开了。</a:t>
            </a:r>
          </a:p>
          <a:p>
            <a:r>
              <a:rPr lang="en-US" dirty="0"/>
              <a:t>D. </a:t>
            </a:r>
            <a:r>
              <a:rPr lang="zh-CN" altLang="en-US" dirty="0"/>
              <a:t>和狗一起进了浴缸。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5232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这是一个词语预测任务。</a:t>
            </a:r>
            <a:r>
              <a:rPr lang="en-US" dirty="0"/>
              <a:t>LAMBADA </a:t>
            </a:r>
            <a:r>
              <a:rPr lang="zh-CN" altLang="en-US" dirty="0"/>
              <a:t>是一个叙述性文本片段的集合，其特点是：如果人类读者能够看到整个段落，他们通常能猜出最后一个词；但如果他们只能看到目标词前的最后一句话，则无法做出准确预测。</a:t>
            </a:r>
          </a:p>
          <a:p>
            <a:r>
              <a:rPr lang="zh-CN" altLang="en-US" dirty="0"/>
              <a:t>该数据集由一系列叙述性文本片段组成，任务是预测最后一个词。</a:t>
            </a:r>
          </a:p>
          <a:p>
            <a:r>
              <a:rPr lang="zh-CN" altLang="en-US" dirty="0"/>
              <a:t>人类读者在通读整个段落的情况下可以猜出该词，但如果只看到包含该词的最后一句，则难以预测。</a:t>
            </a:r>
          </a:p>
          <a:p>
            <a:r>
              <a:rPr lang="zh-CN" altLang="en-US" dirty="0"/>
              <a:t>训练数据来自 </a:t>
            </a:r>
            <a:r>
              <a:rPr lang="en-US" dirty="0" err="1"/>
              <a:t>BookCorpus</a:t>
            </a:r>
            <a:r>
              <a:rPr lang="en-US" dirty="0"/>
              <a:t>，</a:t>
            </a:r>
            <a:r>
              <a:rPr lang="zh-CN" altLang="en-US" dirty="0"/>
              <a:t>包括 </a:t>
            </a:r>
            <a:r>
              <a:rPr lang="en-US" altLang="zh-CN" dirty="0"/>
              <a:t>1 </a:t>
            </a:r>
            <a:r>
              <a:rPr lang="zh-CN" altLang="en-US" dirty="0"/>
              <a:t>万个段落。</a:t>
            </a:r>
          </a:p>
          <a:p>
            <a:r>
              <a:rPr lang="zh-CN" altLang="en-US" dirty="0"/>
              <a:t>该任务通过预测最后一个词来评估模型对长距离依赖的建模能力，旨在测试模型对文本中长程依赖关系的处理能力。</a:t>
            </a:r>
          </a:p>
          <a:p>
            <a:endParaRPr lang="en-CN" dirty="0"/>
          </a:p>
          <a:p>
            <a:endParaRPr lang="en-US" altLang="zh-CN" dirty="0"/>
          </a:p>
          <a:p>
            <a:r>
              <a:rPr lang="zh-CN" altLang="en-US" dirty="0"/>
              <a:t>语境：</a:t>
            </a:r>
          </a:p>
          <a:p>
            <a:r>
              <a:rPr lang="zh-CN" altLang="en-US" dirty="0"/>
              <a:t>“为什么？”“我原以为你会觉得他有点乏味，”她说。</a:t>
            </a:r>
          </a:p>
          <a:p>
            <a:r>
              <a:rPr lang="zh-CN" altLang="en-US" dirty="0"/>
              <a:t>“我不这么认为，”加布里埃尔说。</a:t>
            </a:r>
          </a:p>
          <a:p>
            <a:r>
              <a:rPr lang="zh-CN" altLang="en-US" dirty="0"/>
              <a:t>“他是个伟大的工匠，”希瑟说。</a:t>
            </a:r>
          </a:p>
          <a:p>
            <a:r>
              <a:rPr lang="zh-CN" altLang="en-US" dirty="0"/>
              <a:t>“确实如此，”弗兰纳里说。</a:t>
            </a:r>
          </a:p>
          <a:p>
            <a:br>
              <a:rPr lang="zh-CN" altLang="en-US" dirty="0"/>
            </a:br>
            <a:r>
              <a:rPr lang="zh-CN" altLang="en-US" dirty="0"/>
              <a:t>目标句：</a:t>
            </a:r>
          </a:p>
          <a:p>
            <a:r>
              <a:rPr lang="zh-CN" altLang="en-US" dirty="0"/>
              <a:t>“而且还是波兰人，”</a:t>
            </a:r>
            <a:r>
              <a:rPr lang="en-US" altLang="zh-CN" dirty="0"/>
              <a:t>__</a:t>
            </a:r>
            <a:r>
              <a:rPr lang="zh-CN" altLang="en-US" dirty="0"/>
              <a:t>说。</a:t>
            </a:r>
          </a:p>
          <a:p>
            <a:endParaRPr lang="zh-CN" altLang="en-US" dirty="0"/>
          </a:p>
          <a:p>
            <a:r>
              <a:rPr lang="zh-CN" altLang="en-US" dirty="0"/>
              <a:t>目标词应该是 </a:t>
            </a:r>
            <a:r>
              <a:rPr lang="en-US" dirty="0"/>
              <a:t>Gabriel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801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大规模多任务语言理解评测（</a:t>
            </a:r>
            <a:r>
              <a:rPr lang="en-US" dirty="0"/>
              <a:t>Measuring Massive Multitask Language </a:t>
            </a:r>
            <a:r>
              <a:rPr lang="en-US" dirty="0" err="1"/>
              <a:t>Understanding，MMLU</a:t>
            </a:r>
            <a:r>
              <a:rPr lang="en-US" dirty="0"/>
              <a:t>）：</a:t>
            </a:r>
          </a:p>
          <a:p>
            <a:r>
              <a:rPr lang="zh-CN" altLang="en-US" dirty="0"/>
              <a:t>涵盖 </a:t>
            </a:r>
            <a:r>
              <a:rPr lang="en-US" altLang="zh-CN" dirty="0"/>
              <a:t>57 </a:t>
            </a:r>
            <a:r>
              <a:rPr lang="zh-CN" altLang="en-US" dirty="0"/>
              <a:t>个学科（包括专业类和学术类）的多项选择题。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9104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AI2 </a:t>
            </a:r>
            <a:r>
              <a:rPr lang="zh-CN" altLang="en-US" dirty="0"/>
              <a:t>推理挑战（</a:t>
            </a:r>
            <a:r>
              <a:rPr lang="en-US" dirty="0"/>
              <a:t>AI2 Reasoning </a:t>
            </a:r>
            <a:r>
              <a:rPr lang="en-US" dirty="0" err="1"/>
              <a:t>Challenge，ARC</a:t>
            </a:r>
            <a:r>
              <a:rPr lang="en-US" dirty="0"/>
              <a:t>）：</a:t>
            </a:r>
          </a:p>
          <a:p>
            <a:r>
              <a:rPr lang="zh-CN" altLang="en-US" dirty="0"/>
              <a:t>一项面向小学阶段的多项选择题科学测验任务。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4011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围绕代词消解的常识推理任务（</a:t>
            </a:r>
            <a:r>
              <a:rPr lang="en-US" dirty="0" err="1"/>
              <a:t>WinoGrande</a:t>
            </a:r>
            <a:r>
              <a:rPr lang="en-US" dirty="0"/>
              <a:t>）。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3715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对段落内容进行离散推理的任务（</a:t>
            </a:r>
            <a:r>
              <a:rPr lang="en-US" dirty="0" err="1"/>
              <a:t>DROP，Discrete</a:t>
            </a:r>
            <a:r>
              <a:rPr lang="en-US" dirty="0"/>
              <a:t> Reasoning Over the content of Paragraphs）。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9559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083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语言最小对立基准集（</a:t>
            </a:r>
            <a:r>
              <a:rPr lang="en-US" dirty="0"/>
              <a:t>The Benchmark of Linguistic Minimal </a:t>
            </a:r>
            <a:r>
              <a:rPr lang="en-US" dirty="0" err="1"/>
              <a:t>Pairs，BLiMP</a:t>
            </a:r>
            <a:r>
              <a:rPr lang="en-US" dirty="0"/>
              <a:t>）：</a:t>
            </a:r>
          </a:p>
          <a:p>
            <a:r>
              <a:rPr lang="zh-CN" altLang="en-US" dirty="0"/>
              <a:t>一个用于评估语言模型（</a:t>
            </a:r>
            <a:r>
              <a:rPr lang="en-US" dirty="0"/>
              <a:t>LMs）</a:t>
            </a:r>
            <a:r>
              <a:rPr lang="zh-CN" altLang="en-US" dirty="0"/>
              <a:t>在英语主要语法现象上的语言知识的挑战性数据集。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357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03284-647F-470C-AE41-2C3FA78D75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solidFill>
            <a:schemeClr val="accent1"/>
          </a:solidFill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Introduction to NLP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2747E6-4E72-4435-AB9D-9122E0C57B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Baojian Zhou</a:t>
            </a:r>
          </a:p>
          <a:p>
            <a:r>
              <a:rPr lang="en-US" altLang="zh-CN" dirty="0"/>
              <a:t>School of Data Science, Fudan University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C91BB9-1D1F-408E-9F55-1C077A94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8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BD662-EB3C-4EAF-9A3A-38E08CA48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87" y="265109"/>
            <a:ext cx="11553826" cy="610388"/>
          </a:xfrm>
          <a:noFill/>
        </p:spPr>
        <p:txBody>
          <a:bodyPr>
            <a:noAutofit/>
          </a:bodyPr>
          <a:lstStyle>
            <a:lvl1pPr>
              <a:defRPr sz="4000" b="1">
                <a:solidFill>
                  <a:srgbClr val="0E419C"/>
                </a:solidFill>
              </a:defRPr>
            </a:lvl1pPr>
          </a:lstStyle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A57540-AA61-4F49-8204-5904B128EF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497" y="984642"/>
            <a:ext cx="11064875" cy="5508233"/>
          </a:xfrm>
        </p:spPr>
        <p:txBody>
          <a:bodyPr/>
          <a:lstStyle>
            <a:lvl1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This is a test.</a:t>
            </a:r>
            <a:endParaRPr lang="zh-CN" altLang="en-US" dirty="0"/>
          </a:p>
          <a:p>
            <a:pPr lvl="1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endParaRPr lang="zh-CN" altLang="en-US" dirty="0"/>
          </a:p>
          <a:p>
            <a:pPr lvl="2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endParaRPr lang="zh-CN" altLang="en-US" dirty="0"/>
          </a:p>
          <a:p>
            <a:pPr lvl="3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65E4C-D95C-4051-9F7B-78194BD2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9598" cy="365125"/>
          </a:xfrm>
        </p:spPr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216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65E4C-D95C-4051-9F7B-78194BD2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9598" cy="365125"/>
          </a:xfrm>
        </p:spPr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CE11DDF-65F3-45D5-B724-62F94032D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720850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内容占位符 3">
            <a:extLst>
              <a:ext uri="{FF2B5EF4-FFF2-40B4-BE49-F238E27FC236}">
                <a16:creationId xmlns:a16="http://schemas.microsoft.com/office/drawing/2014/main" id="{96484387-4DE1-4B3F-9BF4-D38DF0613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720850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0F00D199-7DD3-488F-BEEF-DF09657F7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75" y="66676"/>
            <a:ext cx="12049125" cy="610388"/>
          </a:xfrm>
          <a:noFill/>
        </p:spPr>
        <p:txBody>
          <a:bodyPr>
            <a:noAutofit/>
          </a:bodyPr>
          <a:lstStyle>
            <a:lvl1pPr>
              <a:defRPr sz="4000" b="1">
                <a:solidFill>
                  <a:srgbClr val="0E419C"/>
                </a:solidFill>
              </a:defRPr>
            </a:lvl1pPr>
          </a:lstStyle>
          <a:p>
            <a:r>
              <a:rPr lang="en-US" altLang="zh-CN" dirty="0"/>
              <a:t>This is a test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3127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D4B963-4689-4C0B-A3E7-5D0A516F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29"/>
            <a:ext cx="12191998" cy="554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2EC4EC-EEC9-4E2B-8910-81CDFB604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567267"/>
            <a:ext cx="12191998" cy="5925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This is a test</a:t>
            </a:r>
            <a:endParaRPr lang="zh-CN" altLang="en-US" dirty="0"/>
          </a:p>
          <a:p>
            <a:pPr lvl="1"/>
            <a:r>
              <a:rPr lang="en-US" altLang="zh-CN" dirty="0"/>
              <a:t>This is a test</a:t>
            </a:r>
            <a:endParaRPr lang="zh-CN" altLang="en-US" dirty="0"/>
          </a:p>
          <a:p>
            <a:pPr lvl="2"/>
            <a:r>
              <a:rPr lang="en-US" altLang="zh-CN" dirty="0"/>
              <a:t>This is a test</a:t>
            </a:r>
            <a:endParaRPr lang="zh-CN" altLang="en-US" dirty="0"/>
          </a:p>
          <a:p>
            <a:pPr lvl="3"/>
            <a:r>
              <a:rPr lang="en-US" altLang="zh-CN" dirty="0"/>
              <a:t>This is a test</a:t>
            </a:r>
            <a:endParaRPr lang="zh-CN" altLang="en-US" dirty="0"/>
          </a:p>
          <a:p>
            <a:pPr lvl="4"/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1C9E46-0E5F-49EF-B30B-D978E95AB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6266" y="6492875"/>
            <a:ext cx="575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91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noopsarkar.github.io/nlp-class/syllabu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luebenchmark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nyu-mll/glue" TargetMode="External"/><Relationship Id="rId5" Type="http://schemas.openxmlformats.org/officeDocument/2006/relationships/image" Target="../media/image1.png"/><Relationship Id="rId4" Type="http://schemas.openxmlformats.org/officeDocument/2006/relationships/hyperlink" Target="https://arxiv.org/abs/1804.0746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luebenchmark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datasets/nyu-mll/glue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5.1247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datasets/nyu-mll/glue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D13-1170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datasets/nyu-mll/glu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I05-5002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datasets/nyu-mll/glue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8.0005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/quora-question-pairs/overview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4.0542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606.0525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iteseerx.ist.psu.edu/document?repid=rep1&amp;type=pdf&amp;doi=9746994d09b5bf6c40bee3693ee8678e191f84b8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aaai.org/ocs/4492/4492-21843-1-PB.pd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er.gluebenchmark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datasets/aps/super_glue" TargetMode="Externa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5.10044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aps/super_glue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cdm/CommitmentBank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W07-1401.pdf" TargetMode="External"/><Relationship Id="rId7" Type="http://schemas.openxmlformats.org/officeDocument/2006/relationships/image" Target="../media/image19.png"/><Relationship Id="rId2" Type="http://schemas.openxmlformats.org/officeDocument/2006/relationships/hyperlink" Target="https://link.springer.com/chapter/10.1007/11736790_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hyperlink" Target="https://citeseerx.ist.psu.edu/document?repid=rep1&amp;type=pdf&amp;doi=9746994d09b5bf6c40bee3693ee8678e191f84b8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08.09121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datasets/allenai/swag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datasets/allenai/swag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5.07830" TargetMode="External"/><Relationship Id="rId7" Type="http://schemas.openxmlformats.org/officeDocument/2006/relationships/hyperlink" Target="https://huggingface.co/datasets/Rowan/hellaswag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datasets/Rowan/hellaswag" TargetMode="Externa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datasets/Rowan/hellaswag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606.06031" TargetMode="External"/><Relationship Id="rId7" Type="http://schemas.openxmlformats.org/officeDocument/2006/relationships/hyperlink" Target="https://huggingface.co/datasets/cimec/lambada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enodo.org/records/2630551" TargetMode="Externa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hyperlink" Target="https://arxiv.org/pdf/2009.03300" TargetMode="External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03.05457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allenai/ai2_arc" TargetMode="Externa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pdf/10.1145/3474381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allenai/winogrande" TargetMode="External"/><Relationship Id="rId5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3.00161" TargetMode="External"/><Relationship Id="rId7" Type="http://schemas.openxmlformats.org/officeDocument/2006/relationships/hyperlink" Target="https://huggingface.co/datasets/ucinlp/drop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hyperlink" Target="https://arxiv.org/pdf/1611.01603" TargetMode="External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10.14168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openai/gsm8k" TargetMode="External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912.00582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arxiv.org/pdf/2104.14337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contextual.ai/plotting-progress-in-ai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hyperlink" Target="https://arxiv.org/pdf/2210.09261" TargetMode="External"/><Relationship Id="rId4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hyperlink" Target="https://arcprize.org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allenai.org/data/arc" TargetMode="External"/><Relationship Id="rId3" Type="http://schemas.openxmlformats.org/officeDocument/2006/relationships/hyperlink" Target="https://dl.acm.org/doi/full/10.1145/3641289?casa_token=YP6WMzEKt8oAAAAA%3ALdvlLGbDcfn_yRZSBAG638ZRUyUoxYFr7_j63WpMaZ_rMQDJqvP8YCvh9FIlgf3Zkt0R7yBdimo9" TargetMode="External"/><Relationship Id="rId7" Type="http://schemas.openxmlformats.org/officeDocument/2006/relationships/hyperlink" Target="https://rowanzellers.com/swag/" TargetMode="External"/><Relationship Id="rId2" Type="http://schemas.openxmlformats.org/officeDocument/2006/relationships/hyperlink" Target="https://anoopsarkar.github.io/nlp-class/assets/slides/benchmarks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owanzellers.com/hellaswag/" TargetMode="External"/><Relationship Id="rId11" Type="http://schemas.openxmlformats.org/officeDocument/2006/relationships/hyperlink" Target="https://crfm.stanford.edu/helm/mmlu/latest/#/leaderboard" TargetMode="External"/><Relationship Id="rId5" Type="http://schemas.openxmlformats.org/officeDocument/2006/relationships/hyperlink" Target="https://arxiv.org/pdf/2303.08774" TargetMode="External"/><Relationship Id="rId10" Type="http://schemas.openxmlformats.org/officeDocument/2006/relationships/hyperlink" Target="https://allenai.org/data/drop" TargetMode="External"/><Relationship Id="rId4" Type="http://schemas.openxmlformats.org/officeDocument/2006/relationships/hyperlink" Target="https://decanlp.com/" TargetMode="External"/><Relationship Id="rId9" Type="http://schemas.openxmlformats.org/officeDocument/2006/relationships/hyperlink" Target="https://winogrande.allenai.org/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DC680-57FE-4360-8D62-7C774E5A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600" y="856354"/>
            <a:ext cx="10810666" cy="1422073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E419C"/>
                </a:solidFill>
              </a:rPr>
              <a:t>Lecture 07 –</a:t>
            </a:r>
            <a:r>
              <a:rPr lang="zh-CN" altLang="en-US" dirty="0">
                <a:solidFill>
                  <a:srgbClr val="0E419C"/>
                </a:solidFill>
              </a:rPr>
              <a:t> </a:t>
            </a:r>
            <a:r>
              <a:rPr lang="en-US" altLang="zh-CN" dirty="0">
                <a:solidFill>
                  <a:srgbClr val="0E419C"/>
                </a:solidFill>
              </a:rPr>
              <a:t>Benchmarks</a:t>
            </a:r>
            <a:endParaRPr lang="zh-CN" altLang="en-US" dirty="0">
              <a:solidFill>
                <a:srgbClr val="0E419C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BA0913-FFCB-4BC5-85DA-4B598BB8D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585338"/>
            <a:ext cx="9144000" cy="228600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E419C"/>
                </a:solidFill>
              </a:rPr>
              <a:t>Baojian Zhou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E419C"/>
                </a:solidFill>
              </a:rPr>
              <a:t>DATA130030.01 (</a:t>
            </a:r>
            <a:r>
              <a:rPr lang="zh-CN" altLang="en-US" sz="2000" dirty="0">
                <a:solidFill>
                  <a:srgbClr val="0E419C"/>
                </a:solidFill>
              </a:rPr>
              <a:t>自然语言处理</a:t>
            </a:r>
            <a:r>
              <a:rPr lang="en-US" altLang="zh-CN" sz="2000" dirty="0">
                <a:solidFill>
                  <a:srgbClr val="0E419C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E419C"/>
                </a:solidFill>
              </a:rPr>
              <a:t>School of Data Science Fudan University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E419C"/>
                </a:solidFill>
              </a:rPr>
              <a:t>10/29/2025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5388F10-FFAF-40CE-8463-CBC71099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EE6ED-869D-F94C-AAD9-12D5CBFBF886}"/>
              </a:ext>
            </a:extLst>
          </p:cNvPr>
          <p:cNvSpPr txBox="1"/>
          <p:nvPr/>
        </p:nvSpPr>
        <p:spPr>
          <a:xfrm>
            <a:off x="9020501" y="6185098"/>
            <a:ext cx="30731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Largely</a:t>
            </a:r>
            <a:r>
              <a:rPr lang="zh-CN" altLang="en-US" sz="1400" dirty="0"/>
              <a:t> </a:t>
            </a:r>
            <a:r>
              <a:rPr lang="en-US" altLang="zh-CN" sz="1400" dirty="0"/>
              <a:t>Adopted</a:t>
            </a:r>
            <a:r>
              <a:rPr lang="zh-CN" altLang="en-US" sz="1400" dirty="0"/>
              <a:t> </a:t>
            </a:r>
            <a:r>
              <a:rPr lang="en-US" altLang="zh-CN" sz="1400" dirty="0"/>
              <a:t>from</a:t>
            </a:r>
            <a:r>
              <a:rPr lang="zh-CN" altLang="en-US" sz="1400" dirty="0"/>
              <a:t> </a:t>
            </a:r>
            <a:r>
              <a:rPr lang="en-US" sz="1400" dirty="0">
                <a:hlinkClick r:id="rId3"/>
              </a:rPr>
              <a:t>Anoop Sarkar</a:t>
            </a: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241672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E0D9-688C-F55D-A708-0713947B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7605E-6E5F-8CEC-C213-1A7018A86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/>
              <a:t>GLUE/SuperGLUE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SWAG/HellaSWAG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Lambada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Other</a:t>
            </a:r>
            <a:r>
              <a:rPr lang="zh-CN" altLang="en-US" sz="40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0A055-08BD-4EFD-ED7B-AADE904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1105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99D8-21BE-E34C-ADAA-3A966DD1E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GLUE</a:t>
            </a:r>
            <a:r>
              <a:rPr lang="zh-CN" altLang="en-US" dirty="0"/>
              <a:t> </a:t>
            </a:r>
            <a:r>
              <a:rPr lang="en-US" altLang="zh-CN" sz="2800" dirty="0">
                <a:hlinkClick r:id="rId3"/>
              </a:rPr>
              <a:t>https://gluebenchmark.com/</a:t>
            </a:r>
            <a:r>
              <a:rPr lang="zh-CN" altLang="en-US" sz="2800" dirty="0"/>
              <a:t> 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19343-3598-BA4C-8C5A-26FE6D7DA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4" y="878129"/>
            <a:ext cx="10544158" cy="180607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General Language Understanding Evaluation</a:t>
            </a:r>
            <a:r>
              <a:rPr lang="zh-CN" altLang="en-US" dirty="0"/>
              <a:t> </a:t>
            </a:r>
            <a:r>
              <a:rPr lang="en-US" dirty="0"/>
              <a:t>(GLUE) benchmark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A collection of NLU tasks including </a:t>
            </a:r>
            <a:r>
              <a:rPr lang="en-US" altLang="zh-CN" dirty="0"/>
              <a:t>QA</a:t>
            </a:r>
            <a:r>
              <a:rPr lang="en-US" dirty="0"/>
              <a:t>, sentiment analysis,</a:t>
            </a:r>
            <a:r>
              <a:rPr lang="zh-CN" altLang="en-US" dirty="0"/>
              <a:t> </a:t>
            </a:r>
            <a:r>
              <a:rPr lang="en-US" dirty="0"/>
              <a:t>and textual entailment, and an associated online platform for model evaluation, comparison, and</a:t>
            </a:r>
            <a:r>
              <a:rPr lang="zh-CN" altLang="en-US" dirty="0"/>
              <a:t> </a:t>
            </a:r>
            <a:r>
              <a:rPr lang="en-US" dirty="0"/>
              <a:t>analysis.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3AF8-BCB6-764F-AE23-FF070807D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FD237-BB82-3B4C-BDD1-129A386353F0}"/>
              </a:ext>
            </a:extLst>
          </p:cNvPr>
          <p:cNvSpPr txBox="1"/>
          <p:nvPr/>
        </p:nvSpPr>
        <p:spPr>
          <a:xfrm>
            <a:off x="5680381" y="3728885"/>
            <a:ext cx="60414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Wang, Alex, Amanpreet Singh, Julian Michael, Felix Hill, Omer Levy, and Samuel R. Bowman. “</a:t>
            </a:r>
            <a:r>
              <a:rPr lang="en-US" sz="2000" dirty="0">
                <a:hlinkClick r:id="rId4"/>
              </a:rPr>
              <a:t>GLUE: A multi-task benchmark and analysis platform for natural language understanding</a:t>
            </a:r>
            <a:r>
              <a:rPr lang="en-US" sz="2000" dirty="0"/>
              <a:t>.”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sz="2000" dirty="0"/>
              <a:t>2018</a:t>
            </a:r>
            <a:endParaRPr lang="en-C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5F2E45-3A62-2847-B8EC-41CE5193E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144" y="2763750"/>
            <a:ext cx="4336936" cy="3729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1BDC77-EB48-57E8-ACB2-4ED2D0983253}"/>
              </a:ext>
            </a:extLst>
          </p:cNvPr>
          <p:cNvSpPr txBox="1"/>
          <p:nvPr/>
        </p:nvSpPr>
        <p:spPr>
          <a:xfrm>
            <a:off x="7678882" y="6423614"/>
            <a:ext cx="4266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6"/>
              </a:rPr>
              <a:t>https://huggingface.co/datasets/nyu-mll/glue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290046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99D8-21BE-E34C-ADAA-3A966DD1E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GLUE</a:t>
            </a:r>
            <a:r>
              <a:rPr lang="zh-CN" altLang="en-US" dirty="0"/>
              <a:t> </a:t>
            </a:r>
            <a:r>
              <a:rPr lang="en-US" altLang="zh-CN" sz="2800" dirty="0">
                <a:hlinkClick r:id="rId3"/>
              </a:rPr>
              <a:t>https://gluebenchmark.com/</a:t>
            </a:r>
            <a:r>
              <a:rPr lang="zh-CN" altLang="en-US" sz="2800" dirty="0"/>
              <a:t> 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3AF8-BCB6-764F-AE23-FF070807D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B95D6B-7303-7C4A-9150-BB6A46B76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67" y="934600"/>
            <a:ext cx="10638066" cy="55582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938CBD-374C-0FB9-2F67-86F3E107D64C}"/>
              </a:ext>
            </a:extLst>
          </p:cNvPr>
          <p:cNvSpPr txBox="1"/>
          <p:nvPr/>
        </p:nvSpPr>
        <p:spPr>
          <a:xfrm>
            <a:off x="7678882" y="6423614"/>
            <a:ext cx="4266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5"/>
              </a:rPr>
              <a:t>https://huggingface.co/datasets/nyu-mll/glue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304531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F4D8-A7C1-134C-850B-10C023E1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GLUE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1.</a:t>
            </a:r>
            <a:r>
              <a:rPr lang="zh-CN" altLang="en-US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Single-sentence tasks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391EE-D1B7-E147-97ED-52257B65E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4" y="878128"/>
            <a:ext cx="9315125" cy="227802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Corpus of Linguistic Acceptability (</a:t>
            </a:r>
            <a:r>
              <a:rPr lang="en-US" dirty="0">
                <a:hlinkClick r:id="rId3"/>
              </a:rPr>
              <a:t>CoLA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English acceptability judgments drawn from books and journal articles on</a:t>
            </a:r>
            <a:r>
              <a:rPr lang="zh-CN" altLang="en-US" dirty="0"/>
              <a:t> </a:t>
            </a:r>
            <a:r>
              <a:rPr lang="en-US" dirty="0"/>
              <a:t>linguistic theory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Each example is a sequence of words annotated with whether it is a</a:t>
            </a:r>
            <a:r>
              <a:rPr lang="zh-CN" altLang="en-US" dirty="0"/>
              <a:t> </a:t>
            </a:r>
            <a:r>
              <a:rPr lang="en-US" dirty="0"/>
              <a:t>grammatical English sentence. Score is between [-1,1]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40801-F2EF-8C4D-AAB9-BF7553C6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5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0F17E-D698-3944-8C6B-A1D3F8CBC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94" y="3228041"/>
            <a:ext cx="9901082" cy="344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782F09-9941-682F-AA8F-ADE1DAF7071F}"/>
              </a:ext>
            </a:extLst>
          </p:cNvPr>
          <p:cNvSpPr txBox="1"/>
          <p:nvPr/>
        </p:nvSpPr>
        <p:spPr>
          <a:xfrm>
            <a:off x="7678882" y="6515054"/>
            <a:ext cx="4266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5"/>
              </a:rPr>
              <a:t>https://huggingface.co/datasets/nyu-mll/glue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2157526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5B051-2DC1-474C-AC49-527E2B56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GLUE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1.</a:t>
            </a:r>
            <a:r>
              <a:rPr lang="zh-CN" altLang="en-US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Single-sentence tasks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6149E-0DD3-D340-9A45-F5AC68087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The Stanford Sentiment Treebank (</a:t>
            </a:r>
            <a:r>
              <a:rPr lang="en-US" dirty="0">
                <a:hlinkClick r:id="rId3"/>
              </a:rPr>
              <a:t>SST-2</a:t>
            </a:r>
            <a:r>
              <a:rPr lang="en-US" dirty="0"/>
              <a:t>)</a:t>
            </a:r>
          </a:p>
          <a:p>
            <a:pPr lvl="1">
              <a:spcAft>
                <a:spcPts val="1200"/>
              </a:spcAft>
            </a:pPr>
            <a:r>
              <a:rPr lang="en-US" altLang="zh-CN" dirty="0"/>
              <a:t>S</a:t>
            </a:r>
            <a:r>
              <a:rPr lang="en-US" dirty="0"/>
              <a:t>entences from movie</a:t>
            </a:r>
            <a:r>
              <a:rPr lang="zh-CN" altLang="en-US" dirty="0"/>
              <a:t> </a:t>
            </a:r>
            <a:r>
              <a:rPr lang="en-US" dirty="0"/>
              <a:t>reviews and human annotations of their sentiment. The task is to predict the sentiment of a given</a:t>
            </a:r>
            <a:r>
              <a:rPr lang="zh-CN" altLang="en-US" dirty="0"/>
              <a:t> </a:t>
            </a:r>
            <a:r>
              <a:rPr lang="en-US" dirty="0"/>
              <a:t>sentence. We use the </a:t>
            </a:r>
            <a:r>
              <a:rPr lang="en-US" dirty="0">
                <a:solidFill>
                  <a:srgbClr val="FF0000"/>
                </a:solidFill>
              </a:rPr>
              <a:t>two-way</a:t>
            </a:r>
            <a:r>
              <a:rPr lang="en-US" dirty="0"/>
              <a:t> (positive/negative) class split, and use only sentence-level labels.</a:t>
            </a:r>
          </a:p>
          <a:p>
            <a:pPr lvl="2">
              <a:spcAft>
                <a:spcPts val="1200"/>
              </a:spcAft>
            </a:pPr>
            <a:r>
              <a:rPr lang="en-US" i="1" dirty="0"/>
              <a:t>uneasy mishmash of styles and genres</a:t>
            </a:r>
          </a:p>
          <a:p>
            <a:pPr lvl="2">
              <a:spcAft>
                <a:spcPts val="1200"/>
              </a:spcAft>
            </a:pPr>
            <a:r>
              <a:rPr lang="en-US" i="1" dirty="0"/>
              <a:t>it's also heavy-handed and devotes too much time to bigoted views</a:t>
            </a:r>
          </a:p>
          <a:p>
            <a:pPr lvl="2">
              <a:spcAft>
                <a:spcPts val="1200"/>
              </a:spcAft>
            </a:pPr>
            <a:r>
              <a:rPr lang="en-US" i="1" dirty="0"/>
              <a:t>waydowntown is by no means a perfect film, but its boasts a huge charm factor and smacks of originality</a:t>
            </a:r>
          </a:p>
          <a:p>
            <a:pPr lvl="2">
              <a:spcAft>
                <a:spcPts val="1200"/>
              </a:spcAft>
            </a:pPr>
            <a:r>
              <a:rPr lang="en-US" i="1" dirty="0"/>
              <a:t>a remarkable 179-minute meditation on the nature of revolution</a:t>
            </a:r>
          </a:p>
          <a:p>
            <a:pPr lvl="2">
              <a:spcAft>
                <a:spcPts val="1200"/>
              </a:spcAft>
            </a:pPr>
            <a:r>
              <a:rPr lang="en-US" i="1" dirty="0"/>
              <a:t>starts off with a bang , but then fizzles like a wet stick of dynamite at the very end</a:t>
            </a:r>
            <a:endParaRPr lang="en-CN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8E5EC-2057-6742-989C-91A94541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5FC4F2-ECDD-F13F-B6F7-7412DD77BAE1}"/>
              </a:ext>
            </a:extLst>
          </p:cNvPr>
          <p:cNvSpPr txBox="1"/>
          <p:nvPr/>
        </p:nvSpPr>
        <p:spPr>
          <a:xfrm>
            <a:off x="7678882" y="6423614"/>
            <a:ext cx="4266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4"/>
              </a:rPr>
              <a:t>https://huggingface.co/datasets/nyu-mll/glue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3179714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D8F7-9B35-9D49-A7E0-424904AEF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US" sz="2800" dirty="0">
                <a:solidFill>
                  <a:srgbClr val="00B050"/>
                </a:solidFill>
              </a:rPr>
              <a:t>2. Similarity and Paraphrase Tasks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35431-C08B-6A49-B023-A8E1F47B8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9"/>
            <a:ext cx="9197139" cy="194566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Microsoft Research Paraphrase Corpus (</a:t>
            </a:r>
            <a:r>
              <a:rPr lang="en-US" dirty="0">
                <a:hlinkClick r:id="rId3"/>
              </a:rPr>
              <a:t>MRPC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Sentence pairs with human annotations whether sentences are semantically equivalent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Classes are imbalanced (68% positive)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5835B-6AA1-F141-8049-29D4EF7A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7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1C4AB9-AA60-0D4B-B62B-279BD155C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93" y="3093089"/>
            <a:ext cx="10854813" cy="33997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2A2CC3-4612-BB10-BEE7-D1FB4C53FB3A}"/>
              </a:ext>
            </a:extLst>
          </p:cNvPr>
          <p:cNvSpPr txBox="1"/>
          <p:nvPr/>
        </p:nvSpPr>
        <p:spPr>
          <a:xfrm>
            <a:off x="7678882" y="6423614"/>
            <a:ext cx="4266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5"/>
              </a:rPr>
              <a:t>https://huggingface.co/datasets/nyu-mll/glue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201885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133E-2630-6A45-9A97-95AA92F10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US" sz="2800" dirty="0">
                <a:solidFill>
                  <a:srgbClr val="00B050"/>
                </a:solidFill>
              </a:rPr>
              <a:t>2. Similarity and Paraphrase Tasks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8F16C-B6AE-7440-AF97-2B8EEC15C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4" y="878128"/>
            <a:ext cx="9069320" cy="245500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The Semantic Textual Similarity Benchmark (</a:t>
            </a:r>
            <a:r>
              <a:rPr lang="en-US" dirty="0">
                <a:hlinkClick r:id="rId3"/>
              </a:rPr>
              <a:t>STS-B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Sentence pairs drawn from various sources, human annotated with similarity score from 1 to 5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Task: predict [1,5]. Report Pearson and Spearman correlation coefficients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0B234-6EDF-4149-95F9-6E6755F39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8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7C57D7-F764-E648-A19A-12A88C9B8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90" y="3333135"/>
            <a:ext cx="10451690" cy="32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36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51B30-645A-FF42-8887-CE30C2F1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US" sz="2800" dirty="0">
                <a:solidFill>
                  <a:srgbClr val="00B050"/>
                </a:solidFill>
              </a:rPr>
              <a:t>2. Similarity and Paraphrase Tasks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DCF2F-41A3-3A40-A4CD-5DF094824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9"/>
            <a:ext cx="8341733" cy="2032220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Quora Question Pairs (</a:t>
            </a:r>
            <a:r>
              <a:rPr lang="en-US" dirty="0">
                <a:hlinkClick r:id="rId3"/>
              </a:rPr>
              <a:t>QQP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Question pairs from community QA website, Quora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Classes are imbalanced (63% negative) so accuracy and F1 score is reported	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FF688-DD0C-D54B-A142-267AC5E58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9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EBDAD-A52B-444B-BD28-BE1A795F4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83" y="2967071"/>
            <a:ext cx="10992465" cy="346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37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ED6F2-F951-6045-A0B2-215C8058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CN" sz="2800" dirty="0">
                <a:solidFill>
                  <a:srgbClr val="00B050"/>
                </a:solidFill>
              </a:rPr>
              <a:t>3. </a:t>
            </a:r>
            <a:r>
              <a:rPr lang="en-US" sz="2800" dirty="0">
                <a:solidFill>
                  <a:srgbClr val="00B050"/>
                </a:solidFill>
              </a:rPr>
              <a:t>Inference Tasks</a:t>
            </a:r>
            <a:endParaRPr lang="en-CN" sz="2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A4511-87C7-4341-A828-72BE3BC5C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8"/>
            <a:ext cx="9944391" cy="2042053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Multi-Genre Natural Language Inference Corpus (</a:t>
            </a:r>
            <a:r>
              <a:rPr lang="en-US" dirty="0">
                <a:hlinkClick r:id="rId3"/>
              </a:rPr>
              <a:t>MNLI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Crowd-sourced sentence pairs with entailment annotations: </a:t>
            </a:r>
            <a:r>
              <a:rPr lang="en-US" i="1" dirty="0"/>
              <a:t>entailment</a:t>
            </a:r>
            <a:r>
              <a:rPr lang="en-US" dirty="0"/>
              <a:t> (0), </a:t>
            </a:r>
            <a:r>
              <a:rPr lang="en-US" i="1" dirty="0"/>
              <a:t>contradiction</a:t>
            </a:r>
            <a:r>
              <a:rPr lang="en-US" dirty="0"/>
              <a:t> (2) and </a:t>
            </a:r>
            <a:r>
              <a:rPr lang="en-US" i="1" dirty="0"/>
              <a:t>neutral</a:t>
            </a:r>
            <a:r>
              <a:rPr lang="en-US" dirty="0"/>
              <a:t> (1)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Task: predict these three labels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FED69-449A-0241-AB35-1A396972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10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9DAE45-081C-1548-891A-3F3DD72D5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77" y="3289604"/>
            <a:ext cx="10825316" cy="338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65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53C4B-BB46-514E-B760-A9DADEB2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CN" sz="2800" dirty="0">
                <a:solidFill>
                  <a:srgbClr val="00B050"/>
                </a:solidFill>
              </a:rPr>
              <a:t>3. </a:t>
            </a:r>
            <a:r>
              <a:rPr lang="en-US" sz="2800" dirty="0">
                <a:solidFill>
                  <a:srgbClr val="00B050"/>
                </a:solidFill>
              </a:rPr>
              <a:t>Inference Tasks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24870-237F-374C-B303-B01FB957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8"/>
            <a:ext cx="11665036" cy="219936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The Stanford Question Answering Dataset (</a:t>
            </a:r>
            <a:r>
              <a:rPr lang="en-US" dirty="0">
                <a:hlinkClick r:id="rId3"/>
              </a:rPr>
              <a:t>QNLI</a:t>
            </a:r>
            <a:r>
              <a:rPr lang="en-US" dirty="0"/>
              <a:t> based on SQuAD)</a:t>
            </a:r>
          </a:p>
          <a:p>
            <a:pPr lvl="1">
              <a:spcAft>
                <a:spcPts val="600"/>
              </a:spcAft>
            </a:pPr>
            <a:r>
              <a:rPr lang="en-US" sz="2000" dirty="0"/>
              <a:t>Task converted into sentence pair classification by forming a pair between each question and each sentence in the corresponding context, and filtering out pairs with low lexical overlap between the question and the context sentence</a:t>
            </a:r>
          </a:p>
          <a:p>
            <a:pPr lvl="1">
              <a:spcAft>
                <a:spcPts val="600"/>
              </a:spcAft>
            </a:pPr>
            <a:r>
              <a:rPr lang="en-US" sz="2000" dirty="0"/>
              <a:t>Task: predict yes (0) or no (1), the context sentence contains the answer to the question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4B742-47BB-BA4C-82E1-B9C1EC5E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11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7347EC-018B-BB47-A45E-0C4F43ADC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98" y="3023118"/>
            <a:ext cx="11269350" cy="352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77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53C4B-BB46-514E-B760-A9DADEB2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CN" sz="2800" dirty="0">
                <a:solidFill>
                  <a:srgbClr val="00B050"/>
                </a:solidFill>
              </a:rPr>
              <a:t>3. </a:t>
            </a:r>
            <a:r>
              <a:rPr lang="en-US" sz="2800" dirty="0">
                <a:solidFill>
                  <a:srgbClr val="00B050"/>
                </a:solidFill>
              </a:rPr>
              <a:t>Inference Tasks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24870-237F-374C-B303-B01FB957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9"/>
            <a:ext cx="7619395" cy="148161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The Recognizing Textual Entailment (</a:t>
            </a:r>
            <a:r>
              <a:rPr lang="en-US" dirty="0">
                <a:hlinkClick r:id="rId3"/>
              </a:rPr>
              <a:t>RTE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The task is to predict </a:t>
            </a:r>
            <a:r>
              <a:rPr lang="en-US" i="1" dirty="0"/>
              <a:t>entailment</a:t>
            </a:r>
            <a:r>
              <a:rPr lang="en-US" dirty="0"/>
              <a:t> (0) or </a:t>
            </a:r>
            <a:r>
              <a:rPr lang="en-US" i="1" dirty="0"/>
              <a:t>not entailment</a:t>
            </a:r>
            <a:r>
              <a:rPr lang="en-US" dirty="0"/>
              <a:t> (1) between pairs of sentences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4B742-47BB-BA4C-82E1-B9C1EC5E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DCE83-1F02-DB44-BAE0-032F7A0E2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38" y="2717479"/>
            <a:ext cx="11071123" cy="342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276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53C4B-BB46-514E-B760-A9DADEB2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CN" sz="2800" dirty="0">
                <a:solidFill>
                  <a:srgbClr val="00B050"/>
                </a:solidFill>
              </a:rPr>
              <a:t>3. </a:t>
            </a:r>
            <a:r>
              <a:rPr lang="en-US" sz="2800" dirty="0">
                <a:solidFill>
                  <a:srgbClr val="00B050"/>
                </a:solidFill>
              </a:rPr>
              <a:t>Inference Tasks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24870-237F-374C-B303-B01FB957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8"/>
            <a:ext cx="11064875" cy="336940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The Winograd Schema Challenge (</a:t>
            </a:r>
            <a:r>
              <a:rPr lang="en-US" dirty="0">
                <a:hlinkClick r:id="rId3"/>
              </a:rPr>
              <a:t>WNLI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Reading comprehension task to identify referent of a pronoun using entailment between two sentences (one has pronoun reference explicit)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Predict 1 (entailment) or 0 (not entailment)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Designed to fool simple statistical techniques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Test set is imbalanced (65% not entailment) and dev set is adversarial (memorization will hurt performance)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4B742-47BB-BA4C-82E1-B9C1EC5E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13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0F106-BAE4-9D48-8D4A-DD716F5F4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97" y="4362738"/>
            <a:ext cx="11064876" cy="213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17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24FD2-9FAF-B44A-89E5-9D7C92F7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CN" sz="2800" dirty="0">
                <a:solidFill>
                  <a:srgbClr val="00B050"/>
                </a:solidFill>
              </a:rPr>
              <a:t>benchmark performance</a:t>
            </a:r>
            <a:endParaRPr lang="en-CN" dirty="0">
              <a:solidFill>
                <a:srgbClr val="00B05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AF3D56-CB06-EA4C-8F67-84A890840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2172" y="1084266"/>
            <a:ext cx="10064406" cy="55086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6771D-EE97-0D45-BC2F-F4F2F8670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DAEC3-9151-4B4B-8D14-21F50D956705}"/>
              </a:ext>
            </a:extLst>
          </p:cNvPr>
          <p:cNvSpPr txBox="1"/>
          <p:nvPr/>
        </p:nvSpPr>
        <p:spPr>
          <a:xfrm>
            <a:off x="9742784" y="1084266"/>
            <a:ext cx="589935" cy="35373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>
              <a:ln w="28575"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91941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25CDB-1751-1341-9585-36643317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sz="2800" dirty="0">
                <a:solidFill>
                  <a:schemeClr val="tx1"/>
                </a:solidFill>
                <a:hlinkClick r:id="rId3"/>
              </a:rPr>
              <a:t>https://super.gluebenchmark.com/</a:t>
            </a:r>
            <a:r>
              <a:rPr lang="zh-CN" altLang="en-US" sz="2800" dirty="0">
                <a:solidFill>
                  <a:schemeClr val="tx1"/>
                </a:solidFill>
              </a:rPr>
              <a:t> 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C709E-9961-E54C-AD77-03A287471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947478"/>
            <a:ext cx="6552247" cy="1157149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2400" dirty="0"/>
              <a:t>GLUE was too easy for LLMs after July 2019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2400" dirty="0"/>
              <a:t>SuperGLUE is a more rigorous test of NLU</a:t>
            </a:r>
            <a:endParaRPr lang="en-C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B481B-43F0-CA4E-96D8-EE8C91CA2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15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EC566-4303-C84B-8ECC-13185E71D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02" y="2176608"/>
            <a:ext cx="11039596" cy="43711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B4BC17-2F77-4DBB-D82E-B319F96012AE}"/>
              </a:ext>
            </a:extLst>
          </p:cNvPr>
          <p:cNvSpPr txBox="1"/>
          <p:nvPr/>
        </p:nvSpPr>
        <p:spPr>
          <a:xfrm>
            <a:off x="7338061" y="6533602"/>
            <a:ext cx="46738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5"/>
              </a:rPr>
              <a:t>https://huggingface.co/datasets/aps/super_glue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230193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0F0D-53C8-3F42-AE2A-7B51586E5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sz="2800" dirty="0">
                <a:solidFill>
                  <a:srgbClr val="00B050"/>
                </a:solidFill>
              </a:rPr>
              <a:t>1. BoolQ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DE58C-7152-1F4C-B4FA-725C1B1CA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9"/>
            <a:ext cx="11064875" cy="610388"/>
          </a:xfrm>
        </p:spPr>
        <p:txBody>
          <a:bodyPr/>
          <a:lstStyle/>
          <a:p>
            <a:r>
              <a:rPr lang="en-US" dirty="0"/>
              <a:t>Boolean Questions, QA task with yes/no answers (</a:t>
            </a:r>
            <a:r>
              <a:rPr lang="en-US" dirty="0">
                <a:hlinkClick r:id="rId3"/>
              </a:rPr>
              <a:t>BoolQ</a:t>
            </a:r>
            <a:r>
              <a:rPr lang="en-US" dirty="0"/>
              <a:t>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51286-2CAB-9A44-87C6-8C941F2F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16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08CFD-8DF1-4748-BFFC-D001E3ED1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93" y="1818521"/>
            <a:ext cx="4053576" cy="4211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2A62DF-6F53-EA4D-9FFD-4DD80C748A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822" y="1898576"/>
            <a:ext cx="7056857" cy="45924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FB7AA2-BF97-EC47-AFF8-89ABF7D24BD3}"/>
              </a:ext>
            </a:extLst>
          </p:cNvPr>
          <p:cNvSpPr txBox="1"/>
          <p:nvPr/>
        </p:nvSpPr>
        <p:spPr>
          <a:xfrm>
            <a:off x="5098026" y="1488517"/>
            <a:ext cx="5776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b="1" dirty="0"/>
              <a:t>Kinds of reasoning needed in the BoolQ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4FDBA-3979-0E3D-D67D-7ED2F4F3D0B1}"/>
              </a:ext>
            </a:extLst>
          </p:cNvPr>
          <p:cNvSpPr txBox="1"/>
          <p:nvPr/>
        </p:nvSpPr>
        <p:spPr>
          <a:xfrm>
            <a:off x="7338061" y="6533602"/>
            <a:ext cx="46738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6"/>
              </a:rPr>
              <a:t>https://huggingface.co/datasets/aps/super_glue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402605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7D3E0-C5A1-754D-9E76-BACA14815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altLang="zh-CN" sz="2800" dirty="0">
                <a:solidFill>
                  <a:srgbClr val="00B050"/>
                </a:solidFill>
              </a:rPr>
              <a:t>2</a:t>
            </a:r>
            <a:r>
              <a:rPr lang="en-US" sz="2800" dirty="0">
                <a:solidFill>
                  <a:srgbClr val="00B050"/>
                </a:solidFill>
              </a:rPr>
              <a:t>. CB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1E4E3-E3CC-4549-AB2B-E3D3013B0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7" y="984643"/>
            <a:ext cx="10551159" cy="1145910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CommitmentBank</a:t>
            </a:r>
            <a:r>
              <a:rPr lang="zh-CN" altLang="en-US" sz="2400" dirty="0"/>
              <a:t> </a:t>
            </a:r>
            <a:r>
              <a:rPr lang="en-US" altLang="zh-CN" sz="2400" dirty="0"/>
              <a:t>(</a:t>
            </a:r>
            <a:r>
              <a:rPr lang="en-US" altLang="zh-CN" sz="2400" dirty="0">
                <a:hlinkClick r:id="rId3"/>
              </a:rPr>
              <a:t>CB</a:t>
            </a:r>
            <a:r>
              <a:rPr lang="en-US" altLang="zh-CN" sz="2400" dirty="0"/>
              <a:t>):</a:t>
            </a:r>
            <a:r>
              <a:rPr lang="zh-CN" altLang="en-US" sz="2400" dirty="0"/>
              <a:t> </a:t>
            </a:r>
            <a:r>
              <a:rPr lang="en-US" altLang="zh-CN" sz="2000" dirty="0"/>
              <a:t>I</a:t>
            </a:r>
            <a:r>
              <a:rPr lang="en-US" sz="2000" dirty="0"/>
              <a:t>s author committed to truth of embedded clause?</a:t>
            </a:r>
            <a:r>
              <a:rPr lang="zh-CN" altLang="en-US" sz="2000" dirty="0"/>
              <a:t> </a:t>
            </a:r>
            <a:r>
              <a:rPr lang="en-US" altLang="zh-CN" sz="2000" dirty="0"/>
              <a:t>E</a:t>
            </a:r>
            <a:r>
              <a:rPr lang="en-US" sz="2000" dirty="0"/>
              <a:t>ach example consists of a premise</a:t>
            </a:r>
            <a:r>
              <a:rPr lang="zh-CN" altLang="en-US" sz="2000" dirty="0"/>
              <a:t> </a:t>
            </a:r>
            <a:r>
              <a:rPr lang="en-US" sz="2000" dirty="0"/>
              <a:t>containing an embedded clause and the corresponding hypothesis is the extraction of that clause.</a:t>
            </a:r>
            <a:endParaRPr lang="en-C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EEEC1-94EB-914A-915D-794965E0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17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CFE268-2180-7075-2B4D-25C5DD699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680" y="3429000"/>
            <a:ext cx="8504640" cy="32369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DC0D85-106C-F2CB-1E70-8697BBBC7D6E}"/>
              </a:ext>
            </a:extLst>
          </p:cNvPr>
          <p:cNvSpPr txBox="1"/>
          <p:nvPr/>
        </p:nvSpPr>
        <p:spPr>
          <a:xfrm>
            <a:off x="4418686" y="3504286"/>
            <a:ext cx="870597" cy="24530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5334F8-1A20-B5B4-EF24-37156B824C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515" y="2121607"/>
            <a:ext cx="6803756" cy="119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48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BA90-57A9-D697-D6AB-D7695723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altLang="zh-CN" sz="2800" dirty="0">
                <a:solidFill>
                  <a:srgbClr val="00B050"/>
                </a:solidFill>
              </a:rPr>
              <a:t>3</a:t>
            </a:r>
            <a:r>
              <a:rPr lang="en-US" sz="2800" dirty="0">
                <a:solidFill>
                  <a:srgbClr val="00B050"/>
                </a:solidFill>
              </a:rPr>
              <a:t>. C</a:t>
            </a:r>
            <a:r>
              <a:rPr lang="en-US" altLang="zh-CN" sz="2800" dirty="0">
                <a:solidFill>
                  <a:srgbClr val="00B050"/>
                </a:solidFill>
              </a:rPr>
              <a:t>OPA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0901-98BD-3D43-E831-3EEDDB339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8" y="984642"/>
            <a:ext cx="2942822" cy="1270877"/>
          </a:xfrm>
        </p:spPr>
        <p:txBody>
          <a:bodyPr>
            <a:noAutofit/>
          </a:bodyPr>
          <a:lstStyle/>
          <a:p>
            <a:r>
              <a:rPr lang="en-US" sz="2000" dirty="0"/>
              <a:t>Choice of Plausible Alternatives, causal reasoning task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CF7C-D12B-AD58-1889-88D5E540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18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A8A45-C072-2BC3-9139-7D0887535F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514" b="19701"/>
          <a:stretch/>
        </p:blipFill>
        <p:spPr>
          <a:xfrm>
            <a:off x="5041380" y="3973773"/>
            <a:ext cx="6361892" cy="2148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A5C97-CA95-5687-6058-DDB40C15BF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9827"/>
          <a:stretch/>
        </p:blipFill>
        <p:spPr>
          <a:xfrm>
            <a:off x="5078671" y="1987944"/>
            <a:ext cx="6231467" cy="20112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1271B-7AEC-18C3-1F58-57EF89753F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4547"/>
          <a:stretch/>
        </p:blipFill>
        <p:spPr>
          <a:xfrm>
            <a:off x="3683839" y="984643"/>
            <a:ext cx="7772400" cy="6854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DF3C47-E193-BBAA-648A-8FFAE49D3A9D}"/>
              </a:ext>
            </a:extLst>
          </p:cNvPr>
          <p:cNvSpPr txBox="1"/>
          <p:nvPr/>
        </p:nvSpPr>
        <p:spPr>
          <a:xfrm>
            <a:off x="7896386" y="1987944"/>
            <a:ext cx="519194" cy="41346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695566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BA90-57A9-D697-D6AB-D7695723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altLang="zh-CN" sz="2800" dirty="0">
                <a:solidFill>
                  <a:srgbClr val="00B050"/>
                </a:solidFill>
              </a:rPr>
              <a:t>4</a:t>
            </a:r>
            <a:r>
              <a:rPr lang="en-US" sz="2800" dirty="0">
                <a:solidFill>
                  <a:srgbClr val="00B050"/>
                </a:solidFill>
              </a:rPr>
              <a:t>. </a:t>
            </a:r>
            <a:r>
              <a:rPr lang="en-US" altLang="zh-CN" sz="2800" dirty="0">
                <a:solidFill>
                  <a:srgbClr val="00B050"/>
                </a:solidFill>
              </a:rPr>
              <a:t>MultiRC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CF7C-D12B-AD58-1889-88D5E540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19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A8A45-C072-2BC3-9139-7D0887535F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514" b="19701"/>
          <a:stretch/>
        </p:blipFill>
        <p:spPr>
          <a:xfrm>
            <a:off x="4663808" y="4611991"/>
            <a:ext cx="6361892" cy="2148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A5C97-CA95-5687-6058-DDB40C15BF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827"/>
          <a:stretch/>
        </p:blipFill>
        <p:spPr>
          <a:xfrm>
            <a:off x="4701099" y="2626162"/>
            <a:ext cx="6231467" cy="20112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1271B-7AEC-18C3-1F58-57EF89753F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453" b="47709"/>
          <a:stretch/>
        </p:blipFill>
        <p:spPr>
          <a:xfrm>
            <a:off x="3581400" y="861557"/>
            <a:ext cx="7772400" cy="163406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A8219E-CB1C-BC05-2378-63F421CC3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7" y="984643"/>
            <a:ext cx="3168903" cy="674824"/>
          </a:xfrm>
        </p:spPr>
        <p:txBody>
          <a:bodyPr>
            <a:noAutofit/>
          </a:bodyPr>
          <a:lstStyle/>
          <a:p>
            <a:r>
              <a:rPr lang="en-US" sz="2000" dirty="0"/>
              <a:t>Multi-Sentence Reading Comprehension</a:t>
            </a:r>
            <a:endParaRPr lang="en-C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54253-2ED9-FBEF-65A5-D31B50EDFD98}"/>
              </a:ext>
            </a:extLst>
          </p:cNvPr>
          <p:cNvSpPr txBox="1"/>
          <p:nvPr/>
        </p:nvSpPr>
        <p:spPr>
          <a:xfrm>
            <a:off x="8036966" y="2678023"/>
            <a:ext cx="838200" cy="4082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503329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BA90-57A9-D697-D6AB-D7695723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altLang="zh-CN" sz="2800" dirty="0">
                <a:solidFill>
                  <a:srgbClr val="00B050"/>
                </a:solidFill>
              </a:rPr>
              <a:t>5</a:t>
            </a:r>
            <a:r>
              <a:rPr lang="en-US" sz="2800" dirty="0">
                <a:solidFill>
                  <a:srgbClr val="00B050"/>
                </a:solidFill>
              </a:rPr>
              <a:t>. </a:t>
            </a:r>
            <a:r>
              <a:rPr lang="en-US" altLang="zh-CN" sz="2800" dirty="0" err="1">
                <a:solidFill>
                  <a:srgbClr val="00B050"/>
                </a:solidFill>
              </a:rPr>
              <a:t>ReCoRD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0901-98BD-3D43-E831-3EEDDB339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8" y="984642"/>
            <a:ext cx="3236635" cy="1394491"/>
          </a:xfrm>
        </p:spPr>
        <p:txBody>
          <a:bodyPr>
            <a:normAutofit/>
          </a:bodyPr>
          <a:lstStyle/>
          <a:p>
            <a:r>
              <a:rPr lang="en-US" sz="2000" dirty="0"/>
              <a:t>Reading Comprehension with Commonsense Reasoning Dataset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CF7C-D12B-AD58-1889-88D5E540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20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A8A45-C072-2BC3-9139-7D0887535F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514" b="19701"/>
          <a:stretch/>
        </p:blipFill>
        <p:spPr>
          <a:xfrm>
            <a:off x="5028789" y="4689341"/>
            <a:ext cx="6361892" cy="2148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A5C97-CA95-5687-6058-DDB40C15BF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827"/>
          <a:stretch/>
        </p:blipFill>
        <p:spPr>
          <a:xfrm>
            <a:off x="5066080" y="2703512"/>
            <a:ext cx="6231467" cy="20112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1271B-7AEC-18C3-1F58-57EF89753F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672"/>
          <a:stretch/>
        </p:blipFill>
        <p:spPr>
          <a:xfrm>
            <a:off x="4478866" y="773308"/>
            <a:ext cx="6968066" cy="18821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7F129A-17DB-0F4D-3BAB-311A4FC65EC9}"/>
              </a:ext>
            </a:extLst>
          </p:cNvPr>
          <p:cNvSpPr txBox="1"/>
          <p:nvPr/>
        </p:nvSpPr>
        <p:spPr>
          <a:xfrm>
            <a:off x="9230348" y="2775224"/>
            <a:ext cx="787400" cy="4082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8554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BA90-57A9-D697-D6AB-D7695723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altLang="zh-CN" sz="2800" dirty="0">
                <a:solidFill>
                  <a:srgbClr val="00B050"/>
                </a:solidFill>
              </a:rPr>
              <a:t>6</a:t>
            </a:r>
            <a:r>
              <a:rPr lang="en-US" sz="2800" dirty="0">
                <a:solidFill>
                  <a:srgbClr val="00B050"/>
                </a:solidFill>
              </a:rPr>
              <a:t>. </a:t>
            </a:r>
            <a:r>
              <a:rPr lang="en-US" altLang="zh-CN" sz="2800" dirty="0">
                <a:solidFill>
                  <a:srgbClr val="00B050"/>
                </a:solidFill>
              </a:rPr>
              <a:t>RTE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0901-98BD-3D43-E831-3EEDDB339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8" y="984643"/>
            <a:ext cx="2557413" cy="2444358"/>
          </a:xfrm>
        </p:spPr>
        <p:txBody>
          <a:bodyPr>
            <a:noAutofit/>
          </a:bodyPr>
          <a:lstStyle/>
          <a:p>
            <a:r>
              <a:rPr lang="en-US" sz="2000" dirty="0"/>
              <a:t>Recognizing Textual Entailment</a:t>
            </a:r>
          </a:p>
          <a:p>
            <a:pPr lvl="1"/>
            <a:r>
              <a:rPr lang="en-US" sz="1600" dirty="0">
                <a:hlinkClick r:id="rId2"/>
              </a:rPr>
              <a:t>RTE1</a:t>
            </a:r>
            <a:endParaRPr lang="en-US" sz="1600" dirty="0"/>
          </a:p>
          <a:p>
            <a:pPr lvl="1"/>
            <a:r>
              <a:rPr lang="en-US" altLang="zh-CN" sz="1600" dirty="0">
                <a:hlinkClick r:id="rId3"/>
              </a:rPr>
              <a:t>RTE3</a:t>
            </a:r>
            <a:endParaRPr lang="en-US" sz="1600" dirty="0"/>
          </a:p>
          <a:p>
            <a:pPr lvl="1"/>
            <a:r>
              <a:rPr lang="en-US" altLang="zh-CN" sz="1600" dirty="0">
                <a:hlinkClick r:id="rId4"/>
              </a:rPr>
              <a:t>RTE5</a:t>
            </a:r>
            <a:endParaRPr lang="en-CN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CF7C-D12B-AD58-1889-88D5E540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21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A8A45-C072-2BC3-9139-7D0887535FB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9514" b="19701"/>
          <a:stretch/>
        </p:blipFill>
        <p:spPr>
          <a:xfrm>
            <a:off x="4930547" y="4153661"/>
            <a:ext cx="6361892" cy="2148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A5C97-CA95-5687-6058-DDB40C15BF7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9827"/>
          <a:stretch/>
        </p:blipFill>
        <p:spPr>
          <a:xfrm>
            <a:off x="4967838" y="2167832"/>
            <a:ext cx="6231467" cy="2011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7F129A-17DB-0F4D-3BAB-311A4FC65EC9}"/>
              </a:ext>
            </a:extLst>
          </p:cNvPr>
          <p:cNvSpPr txBox="1"/>
          <p:nvPr/>
        </p:nvSpPr>
        <p:spPr>
          <a:xfrm>
            <a:off x="9860238" y="2239544"/>
            <a:ext cx="457200" cy="4082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E2B4AF-1383-E281-8903-9EE4FAC47E8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" b="59455"/>
          <a:stretch/>
        </p:blipFill>
        <p:spPr>
          <a:xfrm>
            <a:off x="4007102" y="1040093"/>
            <a:ext cx="7772400" cy="68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20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BA90-57A9-D697-D6AB-D7695723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altLang="zh-CN" sz="2800" dirty="0">
                <a:solidFill>
                  <a:srgbClr val="00B050"/>
                </a:solidFill>
              </a:rPr>
              <a:t>7</a:t>
            </a:r>
            <a:r>
              <a:rPr lang="en-US" sz="2800" dirty="0">
                <a:solidFill>
                  <a:srgbClr val="00B050"/>
                </a:solidFill>
              </a:rPr>
              <a:t>.</a:t>
            </a:r>
            <a:r>
              <a:rPr lang="zh-CN" altLang="en-US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WiC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0901-98BD-3D43-E831-3EEDDB339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8" y="984642"/>
            <a:ext cx="3516035" cy="1394491"/>
          </a:xfrm>
        </p:spPr>
        <p:txBody>
          <a:bodyPr>
            <a:noAutofit/>
          </a:bodyPr>
          <a:lstStyle/>
          <a:p>
            <a:r>
              <a:rPr lang="en-US" altLang="zh-CN" sz="2000" dirty="0">
                <a:hlinkClick r:id="rId3"/>
              </a:rPr>
              <a:t>Word-In-Context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word sense disambiguation task</a:t>
            </a:r>
            <a:r>
              <a:rPr lang="zh-CN" altLang="en-US" sz="2000" dirty="0"/>
              <a:t> </a:t>
            </a:r>
            <a:r>
              <a:rPr lang="en-US" altLang="zh-CN" sz="2000" dirty="0"/>
              <a:t>cast as binary classification of sentence pairs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CF7C-D12B-AD58-1889-88D5E540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22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A8A45-C072-2BC3-9139-7D0887535F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514" b="19701"/>
          <a:stretch/>
        </p:blipFill>
        <p:spPr>
          <a:xfrm>
            <a:off x="4938104" y="4046145"/>
            <a:ext cx="6361892" cy="2148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A5C97-CA95-5687-6058-DDB40C15BF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9827"/>
          <a:stretch/>
        </p:blipFill>
        <p:spPr>
          <a:xfrm>
            <a:off x="4975395" y="2060316"/>
            <a:ext cx="6231467" cy="2011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7F129A-17DB-0F4D-3BAB-311A4FC65EC9}"/>
              </a:ext>
            </a:extLst>
          </p:cNvPr>
          <p:cNvSpPr txBox="1"/>
          <p:nvPr/>
        </p:nvSpPr>
        <p:spPr>
          <a:xfrm>
            <a:off x="10341928" y="2112176"/>
            <a:ext cx="448734" cy="4082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731C8A-7237-205F-BC9A-8989A831D26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4" b="30932"/>
          <a:stretch/>
        </p:blipFill>
        <p:spPr>
          <a:xfrm>
            <a:off x="4007102" y="1109127"/>
            <a:ext cx="7772400" cy="49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07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BA90-57A9-D697-D6AB-D7695723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altLang="zh-CN" sz="2800" dirty="0">
                <a:solidFill>
                  <a:srgbClr val="00B050"/>
                </a:solidFill>
              </a:rPr>
              <a:t>8</a:t>
            </a:r>
            <a:r>
              <a:rPr lang="en-US" sz="2800" dirty="0">
                <a:solidFill>
                  <a:srgbClr val="00B050"/>
                </a:solidFill>
              </a:rPr>
              <a:t>. </a:t>
            </a:r>
            <a:r>
              <a:rPr lang="en-US" altLang="zh-CN" sz="2800" dirty="0">
                <a:solidFill>
                  <a:srgbClr val="00B050"/>
                </a:solidFill>
              </a:rPr>
              <a:t>WSC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0901-98BD-3D43-E831-3EEDDB339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8" y="984642"/>
            <a:ext cx="3719235" cy="1697598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C</a:t>
            </a:r>
            <a:r>
              <a:rPr lang="en-US" sz="2000" dirty="0"/>
              <a:t>oreference resolution task in</a:t>
            </a:r>
            <a:r>
              <a:rPr lang="zh-CN" altLang="en-US" sz="2000" dirty="0"/>
              <a:t> </a:t>
            </a:r>
            <a:r>
              <a:rPr lang="en-US" sz="2000" dirty="0"/>
              <a:t>which examples consist of a sentence with a pronoun and a list of noun phrases from the sentence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CF7C-D12B-AD58-1889-88D5E540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23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A8A45-C072-2BC3-9139-7D0887535F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514" b="19701"/>
          <a:stretch/>
        </p:blipFill>
        <p:spPr>
          <a:xfrm>
            <a:off x="4809425" y="4239718"/>
            <a:ext cx="6361892" cy="2148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A5C97-CA95-5687-6058-DDB40C15BF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9827"/>
          <a:stretch/>
        </p:blipFill>
        <p:spPr>
          <a:xfrm>
            <a:off x="4846716" y="2253889"/>
            <a:ext cx="6231467" cy="2011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7F129A-17DB-0F4D-3BAB-311A4FC65EC9}"/>
              </a:ext>
            </a:extLst>
          </p:cNvPr>
          <p:cNvSpPr txBox="1"/>
          <p:nvPr/>
        </p:nvSpPr>
        <p:spPr>
          <a:xfrm>
            <a:off x="10630207" y="2305749"/>
            <a:ext cx="541110" cy="4082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340211-F346-4C77-B272-9DFE768F7CD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16" b="-1688"/>
          <a:stretch/>
        </p:blipFill>
        <p:spPr>
          <a:xfrm>
            <a:off x="4235979" y="1205438"/>
            <a:ext cx="7772400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8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E0D9-688C-F55D-A708-0713947B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7605E-6E5F-8CEC-C213-1A7018A86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GLUE/SuperGLUE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/>
              <a:t>SWAG/HellaSWAG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Lambada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Other</a:t>
            </a:r>
            <a:r>
              <a:rPr lang="zh-CN" altLang="en-US" sz="40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0A055-08BD-4EFD-ED7B-AADE904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0616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F0ABB-5D9F-6B6E-A800-59B2CCB7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SWAG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Situations With Adversarial Generations</a:t>
            </a:r>
            <a:r>
              <a:rPr lang="zh-CN" altLang="en-US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(SWAG)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9BF16-9922-1CEC-D731-58D6CFF31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9"/>
            <a:ext cx="11689715" cy="932383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400" dirty="0"/>
              <a:t>Large-scale adversarial dataset for grounded commonsense inference</a:t>
            </a:r>
          </a:p>
          <a:p>
            <a:pPr lvl="1">
              <a:spcAft>
                <a:spcPts val="600"/>
              </a:spcAft>
            </a:pPr>
            <a:r>
              <a:rPr lang="en-US" altLang="zh-CN" sz="2000" dirty="0"/>
              <a:t>A</a:t>
            </a:r>
            <a:r>
              <a:rPr lang="en-US" sz="2000" dirty="0"/>
              <a:t> new dataset with 113k</a:t>
            </a:r>
            <a:r>
              <a:rPr lang="zh-CN" altLang="en-US" sz="2000" dirty="0"/>
              <a:t> </a:t>
            </a:r>
            <a:r>
              <a:rPr lang="en-US" sz="2000" dirty="0"/>
              <a:t>multiple choice questions about a rich spectrum of grounded situations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1CCA9-0698-D05B-1B7E-A767DED3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25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0BB19-7FBB-20EA-C402-061BA22E6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378" y="1810512"/>
            <a:ext cx="4249394" cy="44642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405B1E-C160-B27E-3625-30832CC61ED3}"/>
              </a:ext>
            </a:extLst>
          </p:cNvPr>
          <p:cNvSpPr txBox="1"/>
          <p:nvPr/>
        </p:nvSpPr>
        <p:spPr>
          <a:xfrm>
            <a:off x="261493" y="2398282"/>
            <a:ext cx="477685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• Given a partial description: "</a:t>
            </a:r>
            <a:r>
              <a:rPr lang="en-US" sz="2000" dirty="0">
                <a:solidFill>
                  <a:schemeClr val="accent1"/>
                </a:solidFill>
              </a:rPr>
              <a:t>she opened the hood of the car</a:t>
            </a:r>
            <a:r>
              <a:rPr lang="en-US" sz="2000" dirty="0"/>
              <a:t>"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• Humans can reason: "</a:t>
            </a:r>
            <a:r>
              <a:rPr lang="en-US" sz="2000" dirty="0">
                <a:solidFill>
                  <a:schemeClr val="accent1"/>
                </a:solidFill>
              </a:rPr>
              <a:t>then, she examined the engine</a:t>
            </a:r>
            <a:r>
              <a:rPr lang="en-US" sz="2000" dirty="0"/>
              <a:t>"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• Dataset constructed using Adversarial Filtering to identify the answers that are</a:t>
            </a:r>
            <a:r>
              <a:rPr lang="zh-CN" altLang="en-US" sz="2000" dirty="0"/>
              <a:t> </a:t>
            </a:r>
            <a:r>
              <a:rPr lang="en-US" sz="2000" dirty="0"/>
              <a:t>meaning-based rather than based on vocabulary overlap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• "</a:t>
            </a:r>
            <a:r>
              <a:rPr lang="en-US" sz="2000" dirty="0">
                <a:solidFill>
                  <a:schemeClr val="accent1"/>
                </a:solidFill>
              </a:rPr>
              <a:t>on stage, a woman takes a seat at the piano</a:t>
            </a:r>
            <a:r>
              <a:rPr lang="en-US" sz="2000" dirty="0"/>
              <a:t>". What next?</a:t>
            </a:r>
            <a:endParaRPr lang="en-C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C0ACF-65AA-530F-FB30-E9CF76E24FDF}"/>
              </a:ext>
            </a:extLst>
          </p:cNvPr>
          <p:cNvSpPr txBox="1"/>
          <p:nvPr/>
        </p:nvSpPr>
        <p:spPr>
          <a:xfrm>
            <a:off x="7520941" y="6491710"/>
            <a:ext cx="42493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4"/>
              </a:rPr>
              <a:t>https://huggingface.co/datasets/allenai/swag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577212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D85D3-6273-C5A6-778A-E6841C23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SWAG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https://rowanzellers.com/swag/</a:t>
            </a:r>
            <a:endParaRPr lang="en-C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82EE82-2E99-836A-EF20-6667557E3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3146" y="1083289"/>
            <a:ext cx="4870704" cy="447941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47A69-B758-31D5-60CC-D28CDB83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B0382-156D-5AB7-5E06-3E5724BA157A}"/>
              </a:ext>
            </a:extLst>
          </p:cNvPr>
          <p:cNvSpPr txBox="1"/>
          <p:nvPr/>
        </p:nvSpPr>
        <p:spPr>
          <a:xfrm>
            <a:off x="350902" y="1276284"/>
            <a:ext cx="524522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N" sz="2000" dirty="0"/>
              <a:t>Our corpus consists of 113k multiple choice questions (73k training, 20k validation, 20k test) and is derived from pairs of consecutive video captions from ActivityNet Captions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and the Large Scale Movie Description Challenge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For each pair</a:t>
            </a:r>
            <a:r>
              <a:rPr lang="zh-CN" altLang="en-US" sz="2000" dirty="0"/>
              <a:t> </a:t>
            </a:r>
            <a:r>
              <a:rPr lang="en-US" sz="2000" dirty="0"/>
              <a:t>of captions, we use a constituency parser</a:t>
            </a:r>
            <a:r>
              <a:rPr lang="zh-CN" altLang="en-US" sz="2000" dirty="0"/>
              <a:t> </a:t>
            </a:r>
            <a:r>
              <a:rPr lang="en-US" altLang="zh-CN" sz="2000" dirty="0"/>
              <a:t>to split the second sentence into noun</a:t>
            </a:r>
            <a:r>
              <a:rPr lang="zh-CN" altLang="en-US" sz="2000" dirty="0"/>
              <a:t> </a:t>
            </a:r>
            <a:r>
              <a:rPr lang="en-US" altLang="zh-CN" sz="2000" dirty="0"/>
              <a:t>and verb phrases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Each question has a</a:t>
            </a:r>
            <a:r>
              <a:rPr lang="zh-CN" altLang="en-US" sz="2000" dirty="0"/>
              <a:t> </a:t>
            </a:r>
            <a:r>
              <a:rPr lang="en-US" sz="2000" dirty="0"/>
              <a:t>human-verified gold ending and 3 distractors</a:t>
            </a:r>
            <a:endParaRPr lang="en-C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FF4190-BDEF-51A2-9877-94A27609B92C}"/>
              </a:ext>
            </a:extLst>
          </p:cNvPr>
          <p:cNvSpPr txBox="1"/>
          <p:nvPr/>
        </p:nvSpPr>
        <p:spPr>
          <a:xfrm>
            <a:off x="6345747" y="5706298"/>
            <a:ext cx="5236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Soon after release BERT models fine-tuned on Swag obtain 86% accuracy.</a:t>
            </a:r>
            <a:r>
              <a:rPr lang="zh-CN" altLang="en-US" sz="1400" dirty="0"/>
              <a:t> </a:t>
            </a:r>
            <a:r>
              <a:rPr lang="en-US" sz="1400" dirty="0"/>
              <a:t>DeBERTa-large gets 94.12% accuracy</a:t>
            </a:r>
            <a:endParaRPr lang="en-C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876EF-D5F5-EE41-ABBF-5A6315744D40}"/>
              </a:ext>
            </a:extLst>
          </p:cNvPr>
          <p:cNvSpPr txBox="1"/>
          <p:nvPr/>
        </p:nvSpPr>
        <p:spPr>
          <a:xfrm>
            <a:off x="7520941" y="6491710"/>
            <a:ext cx="42493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4"/>
              </a:rPr>
              <a:t>https://huggingface.co/datasets/allenai/swag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282107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37DA9-4527-3499-26AF-AA4B0AE8F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SWAG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https://rowanzellers.com/swag/</a:t>
            </a:r>
            <a:endParaRPr lang="en-C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040C9C-8BD1-8382-3523-4872B5338D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2497" y="860835"/>
            <a:ext cx="11064875" cy="376879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67B43-0186-8680-E029-D6C390CC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17E4B1-CC15-E123-485B-8B6238388FA0}"/>
              </a:ext>
            </a:extLst>
          </p:cNvPr>
          <p:cNvSpPr txBox="1"/>
          <p:nvPr/>
        </p:nvSpPr>
        <p:spPr>
          <a:xfrm>
            <a:off x="563563" y="4770415"/>
            <a:ext cx="1106487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000" dirty="0"/>
              <a:t>A</a:t>
            </a:r>
            <a:r>
              <a:rPr lang="en-US" sz="2000" dirty="0"/>
              <a:t>nswering “</a:t>
            </a:r>
            <a:r>
              <a:rPr lang="en-US" sz="2000" i="1" dirty="0">
                <a:solidFill>
                  <a:schemeClr val="accent1"/>
                </a:solidFill>
              </a:rPr>
              <a:t>An old man rides</a:t>
            </a:r>
            <a:r>
              <a:rPr lang="zh-CN" altLang="en-US" sz="2000" i="1" dirty="0">
                <a:solidFill>
                  <a:schemeClr val="accent1"/>
                </a:solidFill>
              </a:rPr>
              <a:t> </a:t>
            </a:r>
            <a:r>
              <a:rPr lang="en-US" altLang="zh-CN" sz="2000" i="1" dirty="0">
                <a:solidFill>
                  <a:schemeClr val="accent1"/>
                </a:solidFill>
              </a:rPr>
              <a:t>…</a:t>
            </a:r>
            <a:r>
              <a:rPr lang="en-US" sz="2000" dirty="0"/>
              <a:t>” requires knowledge about</a:t>
            </a:r>
            <a:r>
              <a:rPr lang="zh-CN" altLang="en-US" sz="2000" dirty="0"/>
              <a:t> </a:t>
            </a:r>
            <a:r>
              <a:rPr lang="en-US" sz="2000" dirty="0"/>
              <a:t>bumper cars and how they differ from regular cars:</a:t>
            </a:r>
            <a:r>
              <a:rPr lang="zh-CN" altLang="en-US" sz="2000" dirty="0"/>
              <a:t> </a:t>
            </a:r>
            <a:r>
              <a:rPr lang="en-US" sz="2000" dirty="0"/>
              <a:t>bumper cars are tiny, don’t drive on roads, and</a:t>
            </a:r>
            <a:r>
              <a:rPr lang="zh-CN" altLang="en-US" sz="2000" dirty="0"/>
              <a:t> </a:t>
            </a:r>
            <a:r>
              <a:rPr lang="en-US" sz="2000" dirty="0"/>
              <a:t>don’t work in parking lots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000" dirty="0"/>
              <a:t>A</a:t>
            </a:r>
            <a:r>
              <a:rPr lang="en-US" sz="2000" dirty="0"/>
              <a:t>nswering </a:t>
            </a:r>
            <a:r>
              <a:rPr lang="en-US" altLang="zh-CN" sz="2000" dirty="0"/>
              <a:t>“</a:t>
            </a:r>
            <a:r>
              <a:rPr lang="en-US" altLang="zh-CN" sz="2000" i="1" dirty="0">
                <a:solidFill>
                  <a:schemeClr val="accent1"/>
                </a:solidFill>
              </a:rPr>
              <a:t>H</a:t>
            </a:r>
            <a:r>
              <a:rPr lang="en-US" sz="2000" i="1" dirty="0">
                <a:solidFill>
                  <a:schemeClr val="accent1"/>
                </a:solidFill>
              </a:rPr>
              <a:t>e pours the raw egg</a:t>
            </a:r>
            <a:r>
              <a:rPr lang="zh-CN" altLang="en-US" sz="2000" i="1" dirty="0">
                <a:solidFill>
                  <a:schemeClr val="accent1"/>
                </a:solidFill>
              </a:rPr>
              <a:t> </a:t>
            </a:r>
            <a:r>
              <a:rPr lang="en-US" altLang="zh-CN" sz="2000" i="1" dirty="0">
                <a:solidFill>
                  <a:schemeClr val="accent1"/>
                </a:solidFill>
              </a:rPr>
              <a:t>…</a:t>
            </a:r>
            <a:r>
              <a:rPr lang="en-US" altLang="zh-CN" sz="2000" dirty="0"/>
              <a:t>”</a:t>
            </a:r>
            <a:r>
              <a:rPr lang="zh-CN" altLang="en-US" sz="2000" dirty="0"/>
              <a:t> </a:t>
            </a:r>
            <a:r>
              <a:rPr lang="en-US" sz="2000" dirty="0"/>
              <a:t>require</a:t>
            </a:r>
            <a:r>
              <a:rPr lang="en-US" altLang="zh-CN" sz="2000" dirty="0"/>
              <a:t>s</a:t>
            </a:r>
            <a:r>
              <a:rPr lang="en-US" sz="2000" dirty="0"/>
              <a:t> intuitive physical reasoning</a:t>
            </a:r>
            <a:r>
              <a:rPr lang="zh-CN" altLang="en-US" sz="2000" dirty="0"/>
              <a:t> </a:t>
            </a:r>
            <a:r>
              <a:rPr lang="en-US" sz="2000" dirty="0"/>
              <a:t>about what happens next in making an omelet.</a:t>
            </a:r>
            <a:endParaRPr lang="en-CN" sz="2000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EAACFCFA-2326-24AE-8BD6-053C00BC7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122" y="934404"/>
            <a:ext cx="1021077" cy="944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6BD7F1-2206-CB74-BD70-002BBF37A5D4}"/>
              </a:ext>
            </a:extLst>
          </p:cNvPr>
          <p:cNvSpPr txBox="1"/>
          <p:nvPr/>
        </p:nvSpPr>
        <p:spPr>
          <a:xfrm>
            <a:off x="10995370" y="1808595"/>
            <a:ext cx="792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batter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615050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CB32-5EFF-BBB3-5AAE-20C1A8FC0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HellaSWAG</a:t>
            </a:r>
            <a:r>
              <a:rPr lang="zh-CN" altLang="en-US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https://rowanzellers.com/</a:t>
            </a:r>
            <a:r>
              <a:rPr lang="en-US" sz="2800" dirty="0" err="1">
                <a:solidFill>
                  <a:srgbClr val="00B050"/>
                </a:solidFill>
              </a:rPr>
              <a:t>hellaswag</a:t>
            </a:r>
            <a:r>
              <a:rPr lang="en-US" sz="2800" dirty="0">
                <a:solidFill>
                  <a:srgbClr val="00B050"/>
                </a:solidFill>
              </a:rPr>
              <a:t>/</a:t>
            </a:r>
            <a:endParaRPr lang="en-CN" sz="2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90716-33D8-7E7D-927B-35B425D92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9"/>
            <a:ext cx="11064875" cy="255087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hlinkClick r:id="rId3"/>
              </a:rPr>
              <a:t>Can a Machine Really Finish Your Sentence</a:t>
            </a:r>
            <a:r>
              <a:rPr lang="en-US" dirty="0"/>
              <a:t>?</a:t>
            </a:r>
          </a:p>
          <a:p>
            <a:pPr>
              <a:spcAft>
                <a:spcPts val="600"/>
              </a:spcAft>
            </a:pPr>
            <a:r>
              <a:rPr lang="en-US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Pick the best ending to the context</a:t>
            </a:r>
            <a:endParaRPr lang="en-US" dirty="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lvl="1">
              <a:spcAft>
                <a:spcPts val="600"/>
              </a:spcAft>
            </a:pPr>
            <a:r>
              <a:rPr lang="en-US" altLang="zh-CN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How to catch dragonflies. Use a long-handled aerial net with a wide opening. Select an aerial net that is 18 inches (46 cm) in diameter or larger. Look for one with a nice long handle.</a:t>
            </a:r>
            <a:r>
              <a:rPr lang="zh-CN" altLang="en-US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en-US" altLang="zh-CN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…</a:t>
            </a:r>
          </a:p>
          <a:p>
            <a:pPr lvl="1">
              <a:spcAft>
                <a:spcPts val="600"/>
              </a:spcAft>
            </a:pPr>
            <a:endParaRPr lang="en-US" b="0" i="0" dirty="0">
              <a:solidFill>
                <a:srgbClr val="212529"/>
              </a:solidFill>
              <a:effectLst/>
              <a:highlight>
                <a:srgbClr val="FFFFFF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B2081-6778-A1DA-8CCD-B9567D0F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28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074F3A-FFCB-5F7B-E8E9-CB851B05F5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2" y="3512131"/>
            <a:ext cx="5906125" cy="1319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673874-2E5A-D15C-86FC-20FFEBDE0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841" y="4981802"/>
            <a:ext cx="8550887" cy="13197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0C6448-BDBF-F534-73D1-CD20DE8988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3666109"/>
            <a:ext cx="6095999" cy="562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D7EBCA-BE38-352F-91AD-95FD213B0CCD}"/>
              </a:ext>
            </a:extLst>
          </p:cNvPr>
          <p:cNvSpPr txBox="1"/>
          <p:nvPr/>
        </p:nvSpPr>
        <p:spPr>
          <a:xfrm>
            <a:off x="7188430" y="6506160"/>
            <a:ext cx="4698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7"/>
              </a:rPr>
              <a:t>https://huggingface.co/datasets/Rowan/hellaswag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92217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CB32-5EFF-BBB3-5AAE-20C1A8FC0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HellaSWAG</a:t>
            </a:r>
            <a:r>
              <a:rPr lang="zh-CN" altLang="en-US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https://rowanzellers.com/</a:t>
            </a:r>
            <a:r>
              <a:rPr lang="en-US" sz="2800" dirty="0" err="1">
                <a:solidFill>
                  <a:srgbClr val="00B050"/>
                </a:solidFill>
              </a:rPr>
              <a:t>hellaswag</a:t>
            </a:r>
            <a:r>
              <a:rPr lang="en-US" sz="2800" dirty="0">
                <a:solidFill>
                  <a:srgbClr val="00B050"/>
                </a:solidFill>
              </a:rPr>
              <a:t>/</a:t>
            </a:r>
            <a:endParaRPr lang="en-CN" sz="2800" dirty="0">
              <a:solidFill>
                <a:srgbClr val="00B05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27406B-F2D0-2DE6-9C7E-24DEB3443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18372" y="1365240"/>
            <a:ext cx="4529369" cy="487966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B2081-6778-A1DA-8CCD-B9567D0F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29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391B58-0AF6-1D21-0EAD-834F34DBC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59" y="1258780"/>
            <a:ext cx="5555109" cy="49861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E23E3E-4204-2FAE-1042-6EDB3B97C645}"/>
              </a:ext>
            </a:extLst>
          </p:cNvPr>
          <p:cNvSpPr txBox="1"/>
          <p:nvPr/>
        </p:nvSpPr>
        <p:spPr>
          <a:xfrm>
            <a:off x="7188430" y="6506160"/>
            <a:ext cx="4698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5"/>
              </a:rPr>
              <a:t>https://huggingface.co/datasets/Rowan/hellaswag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6949653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7C5BE-85CA-FDB4-CD64-7DB8BFB76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HellaSWAG</a:t>
            </a:r>
            <a:r>
              <a:rPr lang="zh-CN" altLang="en-US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https://rowanzellers.com/</a:t>
            </a:r>
            <a:r>
              <a:rPr lang="en-US" sz="2800" dirty="0" err="1">
                <a:solidFill>
                  <a:srgbClr val="00B050"/>
                </a:solidFill>
              </a:rPr>
              <a:t>hellaswag</a:t>
            </a:r>
            <a:r>
              <a:rPr lang="en-US" sz="2800" dirty="0">
                <a:solidFill>
                  <a:srgbClr val="00B050"/>
                </a:solidFill>
              </a:rPr>
              <a:t>/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76444-5D1D-C337-59DF-933433B72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9"/>
            <a:ext cx="11064875" cy="1198644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dirty="0"/>
              <a:t>GPT 3 gets 85.5% accuracy (10-shot learning)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dirty="0"/>
              <a:t>GPT 4 gets 95.3% accuracy (10-shot learning)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ECCE6-CCFB-B132-8495-497FEB60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30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10265-67AA-EC8C-08E6-90AA64610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036" y="2351093"/>
            <a:ext cx="6749607" cy="1774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FDECEF-8C91-246B-FFFB-BCB7EE98A7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822"/>
          <a:stretch/>
        </p:blipFill>
        <p:spPr>
          <a:xfrm>
            <a:off x="2209800" y="4399563"/>
            <a:ext cx="7772400" cy="939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8E502D-26AD-0C31-3785-6CE2AFE343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961"/>
          <a:stretch/>
        </p:blipFill>
        <p:spPr>
          <a:xfrm>
            <a:off x="2209800" y="5338725"/>
            <a:ext cx="7772400" cy="6316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14EB96-3602-545D-5C96-440542B403BB}"/>
              </a:ext>
            </a:extLst>
          </p:cNvPr>
          <p:cNvSpPr txBox="1"/>
          <p:nvPr/>
        </p:nvSpPr>
        <p:spPr>
          <a:xfrm>
            <a:off x="7188430" y="6506160"/>
            <a:ext cx="4698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4"/>
              </a:rPr>
              <a:t>https://huggingface.co/datasets/Rowan/hellaswag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21524510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E0D9-688C-F55D-A708-0713947B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7605E-6E5F-8CEC-C213-1A7018A86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GLUE/SuperGLUE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SWAG/HellaSWAG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Lambada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/>
              <a:t>Other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0A055-08BD-4EFD-ED7B-AADE904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0125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EE098-6341-5FF6-B22F-C0985FA40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587BF-890E-6592-CF36-33310C303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7" y="984643"/>
            <a:ext cx="9215153" cy="4607556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/>
              <a:t>MMLU - Multiple choice questions in 57 subjects (professional &amp; academic)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ARC - AI2 Reasoning Challenge, grade school multiple choice science quiz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WinoGrande - bigger version of the Winograd Schema Challenge from GLUE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DROP - Reading comprehension &amp; arithmetic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GSM-8K - Grade school math questions</a:t>
            </a:r>
          </a:p>
          <a:p>
            <a:pPr>
              <a:spcAft>
                <a:spcPts val="1200"/>
              </a:spcAft>
            </a:pPr>
            <a:r>
              <a:rPr lang="en-US" sz="2000" dirty="0" err="1"/>
              <a:t>BLiMP</a:t>
            </a:r>
            <a:r>
              <a:rPr lang="en-US" sz="2000" dirty="0"/>
              <a:t> - Benchmark of minimal linguistic pairs; new version of </a:t>
            </a:r>
            <a:r>
              <a:rPr lang="en-US" sz="2000" dirty="0" err="1"/>
              <a:t>CoLA</a:t>
            </a:r>
            <a:endParaRPr lang="en-US" sz="2000" dirty="0"/>
          </a:p>
          <a:p>
            <a:pPr>
              <a:spcAft>
                <a:spcPts val="1200"/>
              </a:spcAft>
            </a:pPr>
            <a:r>
              <a:rPr lang="en-US" sz="2000" dirty="0"/>
              <a:t>HumanEval</a:t>
            </a:r>
            <a:r>
              <a:rPr lang="zh-CN" altLang="en-US" sz="2000" dirty="0"/>
              <a:t> </a:t>
            </a:r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US" altLang="zh-CN" sz="2000" dirty="0"/>
              <a:t>Evaluating large language models trained on code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294A8-6728-9DBC-4B0F-BA450152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7557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BC4E6-7726-6A15-9519-B3BAFE9F8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349768"/>
            <a:ext cx="5653087" cy="844792"/>
          </a:xfrm>
        </p:spPr>
        <p:txBody>
          <a:bodyPr/>
          <a:lstStyle/>
          <a:p>
            <a:r>
              <a:rPr lang="en-US" altLang="zh-CN" dirty="0"/>
              <a:t>Lambada</a:t>
            </a:r>
            <a:r>
              <a:rPr lang="zh-CN" altLang="en-US" dirty="0"/>
              <a:t> </a:t>
            </a:r>
            <a:r>
              <a:rPr lang="en-US" altLang="zh-CN" dirty="0">
                <a:hlinkClick r:id="rId3"/>
              </a:rPr>
              <a:t>dataset</a:t>
            </a:r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FC173-E91F-930F-20FF-AA30DDDA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33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84864-DFEF-61CA-CF24-C5119EE0A8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903"/>
          <a:stretch/>
        </p:blipFill>
        <p:spPr>
          <a:xfrm>
            <a:off x="442912" y="1951748"/>
            <a:ext cx="10487159" cy="4228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EEA02A-4124-72CC-AD00-2A5FFCFAB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053" y="484964"/>
            <a:ext cx="5227319" cy="13576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7B4F76-8B1C-DACC-C49C-2B789501DBC4}"/>
              </a:ext>
            </a:extLst>
          </p:cNvPr>
          <p:cNvSpPr txBox="1"/>
          <p:nvPr/>
        </p:nvSpPr>
        <p:spPr>
          <a:xfrm>
            <a:off x="168592" y="6398081"/>
            <a:ext cx="4070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hlinkClick r:id="rId6"/>
              </a:rPr>
              <a:t>https://</a:t>
            </a:r>
            <a:r>
              <a:rPr lang="en-US" altLang="zh-CN" dirty="0" err="1">
                <a:solidFill>
                  <a:srgbClr val="00B050"/>
                </a:solidFill>
                <a:hlinkClick r:id="rId6"/>
              </a:rPr>
              <a:t>zenodo.org</a:t>
            </a:r>
            <a:r>
              <a:rPr lang="en-US" altLang="zh-CN" dirty="0">
                <a:solidFill>
                  <a:srgbClr val="00B050"/>
                </a:solidFill>
                <a:hlinkClick r:id="rId6"/>
              </a:rPr>
              <a:t>/records/2630551</a:t>
            </a:r>
            <a:endParaRPr lang="en-C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60AB434-6FCF-A0AF-D661-F72BB4E229BD}"/>
              </a:ext>
            </a:extLst>
          </p:cNvPr>
          <p:cNvSpPr txBox="1">
            <a:spLocks/>
          </p:cNvSpPr>
          <p:nvPr/>
        </p:nvSpPr>
        <p:spPr>
          <a:xfrm>
            <a:off x="471487" y="417509"/>
            <a:ext cx="5944553" cy="61038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E419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Lambada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74CBC-C596-C167-4CA2-D4805BDDD046}"/>
              </a:ext>
            </a:extLst>
          </p:cNvPr>
          <p:cNvSpPr txBox="1"/>
          <p:nvPr/>
        </p:nvSpPr>
        <p:spPr>
          <a:xfrm>
            <a:off x="7404561" y="6519446"/>
            <a:ext cx="44826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7"/>
              </a:rPr>
              <a:t>https://huggingface.co/datasets/cimec/lambada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3529122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61FB-4B03-0B45-9432-88731F66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MMLU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A9B13-0158-0C45-AF6C-28EBFB79A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7" y="984643"/>
            <a:ext cx="11064875" cy="980184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lang="en-US" sz="2000" dirty="0"/>
              <a:t>Measuring Massive Multitask Language Understanding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dirty="0">
                <a:hlinkClick r:id="rId3"/>
              </a:rPr>
              <a:t>MMLU</a:t>
            </a:r>
            <a:r>
              <a:rPr lang="en-US" altLang="zh-CN" sz="2000" dirty="0"/>
              <a:t>)</a:t>
            </a:r>
            <a:endParaRPr lang="en-US" sz="2000" dirty="0"/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lang="en-US" sz="2000" dirty="0"/>
              <a:t>Multiple choice questions in 57 subjects (professional &amp; academic)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51AF7-9CBE-6E49-ADD7-40A2BD4F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34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60E33-BE56-C4BB-BD5B-5C84AC633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1" y="3714470"/>
            <a:ext cx="6927050" cy="2778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11A81E-AA5E-D1DE-0B66-EFFC7E858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6937" y="3714470"/>
            <a:ext cx="4635976" cy="2698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B91F39-C07C-7904-DCED-63FAA0197E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792" y="1713166"/>
            <a:ext cx="2265359" cy="18239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D86291-23AE-0889-93EA-988E48B796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0397" y="1927684"/>
            <a:ext cx="5485770" cy="14938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D4C246-27C9-B22B-ACE1-618A02FB94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271" y="781744"/>
            <a:ext cx="3770326" cy="75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908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F74C3-8166-A901-FE67-828A0051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35</a:t>
            </a:fld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1DF8001-AD95-D2F3-7AB1-0418D6D63D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689" y="984250"/>
            <a:ext cx="6456996" cy="550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73A4384-E714-7417-2580-E81F6A158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87" y="265109"/>
            <a:ext cx="11553826" cy="610388"/>
          </a:xfrm>
        </p:spPr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MMLU</a:t>
            </a:r>
            <a:endParaRPr lang="en-C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660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E4199-911D-1442-A257-ED5BF78A1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ARC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F16E4-B1E9-454E-8F68-B2B8798EA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8"/>
            <a:ext cx="5506261" cy="821718"/>
          </a:xfrm>
        </p:spPr>
        <p:txBody>
          <a:bodyPr>
            <a:noAutofit/>
          </a:bodyPr>
          <a:lstStyle/>
          <a:p>
            <a:r>
              <a:rPr lang="en-US" sz="2000" dirty="0"/>
              <a:t>AI2 Reasoning Challenge, grade school multiple choice science quiz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dirty="0">
                <a:hlinkClick r:id="rId3"/>
              </a:rPr>
              <a:t>ARC</a:t>
            </a:r>
            <a:r>
              <a:rPr lang="en-US" altLang="zh-CN" sz="2000" dirty="0"/>
              <a:t>)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C9CDA-5CFA-BD4B-B753-75EB8FBB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36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CAF18C-3955-FA43-9CA0-6C72CD57C5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9574" b="45498"/>
          <a:stretch/>
        </p:blipFill>
        <p:spPr>
          <a:xfrm>
            <a:off x="7623923" y="1064798"/>
            <a:ext cx="4306583" cy="4760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45F5EA-A52F-0F41-B9E8-4BBB5E6344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5508"/>
          <a:stretch/>
        </p:blipFill>
        <p:spPr>
          <a:xfrm>
            <a:off x="7623924" y="614405"/>
            <a:ext cx="4306583" cy="462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ED9C2B-5EF3-5F4D-8DC4-60C801C75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546" y="1730135"/>
            <a:ext cx="9859995" cy="46209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177344-9AEB-0369-F241-D7EF009B131B}"/>
              </a:ext>
            </a:extLst>
          </p:cNvPr>
          <p:cNvSpPr txBox="1"/>
          <p:nvPr/>
        </p:nvSpPr>
        <p:spPr>
          <a:xfrm>
            <a:off x="7489599" y="6492875"/>
            <a:ext cx="4575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6"/>
              </a:rPr>
              <a:t>https://huggingface.co/datasets/allenai/ai2_arc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6880470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9442-29CE-BB47-A6B6-9E7397FD6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WinoGrande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814E8-0A2E-AF45-AAC0-92D59E83E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75" y="1170888"/>
            <a:ext cx="7958278" cy="498253"/>
          </a:xfrm>
        </p:spPr>
        <p:txBody>
          <a:bodyPr>
            <a:normAutofit/>
          </a:bodyPr>
          <a:lstStyle/>
          <a:p>
            <a:r>
              <a:rPr lang="en-US" sz="2000" dirty="0"/>
              <a:t>Commonsense reasoning around</a:t>
            </a:r>
            <a:r>
              <a:rPr lang="zh-CN" altLang="en-US" sz="2000" dirty="0"/>
              <a:t> </a:t>
            </a:r>
            <a:r>
              <a:rPr lang="en-US" sz="2000" dirty="0"/>
              <a:t>pronoun resolution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dirty="0">
                <a:hlinkClick r:id="rId3"/>
              </a:rPr>
              <a:t>WinoGrande</a:t>
            </a:r>
            <a:r>
              <a:rPr lang="en-US" altLang="zh-CN" sz="2000" dirty="0"/>
              <a:t>)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31BD0-5312-EA4E-A05B-B03EB564B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37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AE0B7-3A45-0E44-9C58-4E43D15FC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95" y="1964532"/>
            <a:ext cx="10907210" cy="35640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73BB78-8053-7D46-9CB7-EC54DDE159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1002" t="53048" r="-3176" b="35502"/>
          <a:stretch/>
        </p:blipFill>
        <p:spPr>
          <a:xfrm>
            <a:off x="7243073" y="845973"/>
            <a:ext cx="4917121" cy="365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FA0490-F9B2-7A4F-95DD-06C7D139A25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5508"/>
          <a:stretch/>
        </p:blipFill>
        <p:spPr>
          <a:xfrm>
            <a:off x="7717395" y="387930"/>
            <a:ext cx="4306583" cy="4621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556C53-C8DC-3F93-6388-9CF2EBF886AC}"/>
              </a:ext>
            </a:extLst>
          </p:cNvPr>
          <p:cNvSpPr txBox="1"/>
          <p:nvPr/>
        </p:nvSpPr>
        <p:spPr>
          <a:xfrm>
            <a:off x="5326380" y="6408225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hlinkClick r:id="rId6"/>
              </a:rPr>
              <a:t>https://huggingface.co/datasets/allenai/winogrande</a:t>
            </a:r>
            <a:r>
              <a:rPr lang="zh-CN" altLang="en-US" dirty="0"/>
              <a:t> 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48993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9B30-7225-C14E-B4AB-A3A89519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DROP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404FC-EDFD-A541-A4E7-E9F292297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022" y="748722"/>
            <a:ext cx="7549372" cy="475711"/>
          </a:xfrm>
        </p:spPr>
        <p:txBody>
          <a:bodyPr>
            <a:normAutofit/>
          </a:bodyPr>
          <a:lstStyle/>
          <a:p>
            <a:r>
              <a:rPr lang="en-US" sz="2000" dirty="0"/>
              <a:t>Discrete</a:t>
            </a:r>
            <a:r>
              <a:rPr lang="zh-CN" altLang="en-US" sz="2000" dirty="0"/>
              <a:t> </a:t>
            </a:r>
            <a:r>
              <a:rPr lang="en-US" sz="2000" dirty="0"/>
              <a:t>Reasoning Over the content of Paragraph</a:t>
            </a:r>
            <a:r>
              <a:rPr lang="en-US" altLang="zh-CN" sz="2000" dirty="0"/>
              <a:t>s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dirty="0">
                <a:hlinkClick r:id="rId3"/>
              </a:rPr>
              <a:t>DROP</a:t>
            </a:r>
            <a:r>
              <a:rPr lang="en-US" altLang="zh-CN" sz="2000" dirty="0"/>
              <a:t>)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99CE7-A5AE-F74E-A4AB-D522276E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38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BC38C9-93E7-E54A-BEC6-293BA85758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184"/>
          <a:stretch/>
        </p:blipFill>
        <p:spPr>
          <a:xfrm>
            <a:off x="1022486" y="1443755"/>
            <a:ext cx="9844897" cy="49961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493008-271F-3346-9783-0CE088D0BDBE}"/>
              </a:ext>
            </a:extLst>
          </p:cNvPr>
          <p:cNvSpPr txBox="1"/>
          <p:nvPr/>
        </p:nvSpPr>
        <p:spPr>
          <a:xfrm>
            <a:off x="8654404" y="6440562"/>
            <a:ext cx="3067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The</a:t>
            </a:r>
            <a:r>
              <a:rPr lang="zh-CN" altLang="en-US" sz="1400" dirty="0"/>
              <a:t> </a:t>
            </a:r>
            <a:r>
              <a:rPr lang="en-US" altLang="zh-CN" sz="1400" dirty="0"/>
              <a:t>reference</a:t>
            </a:r>
            <a:r>
              <a:rPr lang="zh-CN" altLang="en-US" sz="1400" dirty="0"/>
              <a:t> </a:t>
            </a:r>
            <a:r>
              <a:rPr lang="en-US" altLang="zh-CN" sz="1400" dirty="0"/>
              <a:t>model</a:t>
            </a:r>
            <a:r>
              <a:rPr lang="zh-CN" altLang="en-US" sz="1400" dirty="0"/>
              <a:t> </a:t>
            </a:r>
            <a:r>
              <a:rPr lang="en-US" altLang="zh-CN" sz="1400" dirty="0"/>
              <a:t>is</a:t>
            </a:r>
            <a:r>
              <a:rPr lang="zh-CN" altLang="en-US" sz="1400" dirty="0"/>
              <a:t> </a:t>
            </a:r>
            <a:r>
              <a:rPr lang="en-US" altLang="zh-CN" sz="1400" dirty="0">
                <a:hlinkClick r:id="rId5"/>
              </a:rPr>
              <a:t>BiDAF</a:t>
            </a:r>
            <a:r>
              <a:rPr lang="zh-CN" altLang="en-US" sz="1400" dirty="0">
                <a:hlinkClick r:id="rId5"/>
              </a:rPr>
              <a:t> </a:t>
            </a:r>
            <a:r>
              <a:rPr lang="en-US" altLang="zh-CN" sz="1400" dirty="0">
                <a:hlinkClick r:id="rId5"/>
              </a:rPr>
              <a:t>model</a:t>
            </a:r>
            <a:endParaRPr lang="en-C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CCE5-3CC4-5742-96B5-B07B8AD98E7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3951" b="14599"/>
          <a:stretch/>
        </p:blipFill>
        <p:spPr>
          <a:xfrm>
            <a:off x="7717395" y="850046"/>
            <a:ext cx="4306583" cy="3651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CD0882-7A42-FF4B-86BC-FBB86DDE9B6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85508"/>
          <a:stretch/>
        </p:blipFill>
        <p:spPr>
          <a:xfrm>
            <a:off x="7717395" y="387930"/>
            <a:ext cx="4306583" cy="4621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FA04EF-DEF8-EA6A-DA97-9F2CD46ADEA4}"/>
              </a:ext>
            </a:extLst>
          </p:cNvPr>
          <p:cNvSpPr txBox="1"/>
          <p:nvPr/>
        </p:nvSpPr>
        <p:spPr>
          <a:xfrm>
            <a:off x="4370416" y="6519446"/>
            <a:ext cx="4208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7"/>
              </a:rPr>
              <a:t>https://huggingface.co/datasets/ucinlp/drop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8857770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B283-0CBD-1543-B5AB-BB152410F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GSM-8K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319A6-9E70-0343-9EBD-D476EBF01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75" y="738504"/>
            <a:ext cx="6488293" cy="462117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G</a:t>
            </a:r>
            <a:r>
              <a:rPr lang="en-US" sz="2400" dirty="0"/>
              <a:t>rade school math word problems</a:t>
            </a:r>
            <a:r>
              <a:rPr lang="zh-CN" altLang="en-US" sz="2400" dirty="0"/>
              <a:t> </a:t>
            </a:r>
            <a:r>
              <a:rPr lang="en-US" altLang="zh-CN" sz="2400" dirty="0"/>
              <a:t>(</a:t>
            </a:r>
            <a:r>
              <a:rPr lang="en-US" altLang="zh-CN" sz="2400" dirty="0">
                <a:hlinkClick r:id="rId3"/>
              </a:rPr>
              <a:t>GSM-8K</a:t>
            </a:r>
            <a:r>
              <a:rPr lang="en-US" altLang="zh-CN" sz="2400" dirty="0"/>
              <a:t>)</a:t>
            </a:r>
            <a:endParaRPr lang="en-C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8EB6F-4EF5-FD40-B5E7-E870730BC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39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1E8ED-54B8-AC4C-ADB2-8E6EDF41B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111" y="1547066"/>
            <a:ext cx="8923778" cy="47363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B19202-46B5-DD4C-99BD-69A067C8721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5508"/>
          <a:stretch/>
        </p:blipFill>
        <p:spPr>
          <a:xfrm>
            <a:off x="7717394" y="850046"/>
            <a:ext cx="4306583" cy="462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57A3F2-9127-504D-8C7A-53E73D2E5EA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5508"/>
          <a:stretch/>
        </p:blipFill>
        <p:spPr>
          <a:xfrm>
            <a:off x="7717395" y="387930"/>
            <a:ext cx="4306583" cy="4621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FAA33C-6D3E-58F0-F747-A43130F1F8A9}"/>
              </a:ext>
            </a:extLst>
          </p:cNvPr>
          <p:cNvSpPr txBox="1"/>
          <p:nvPr/>
        </p:nvSpPr>
        <p:spPr>
          <a:xfrm>
            <a:off x="7238307" y="6518326"/>
            <a:ext cx="45158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6"/>
              </a:rPr>
              <a:t>https://huggingface.co/datasets/openai/gsm8k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26781568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CEF4A-F0B3-AE44-A148-D846E7DC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BLiMP</a:t>
            </a:r>
            <a:endParaRPr lang="en-CN" dirty="0">
              <a:solidFill>
                <a:srgbClr val="00B05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0952F7-0672-1243-8B28-246B0AA79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69908" y="2476880"/>
            <a:ext cx="8882469" cy="42714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CC90A-CA9D-E94D-B635-8687630C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40</a:t>
            </a:fld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D7134E-0665-9442-819A-AFC68CA1734A}"/>
              </a:ext>
            </a:extLst>
          </p:cNvPr>
          <p:cNvSpPr txBox="1"/>
          <p:nvPr/>
        </p:nvSpPr>
        <p:spPr>
          <a:xfrm>
            <a:off x="168022" y="925763"/>
            <a:ext cx="10484355" cy="136023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N" sz="2400" dirty="0"/>
              <a:t>The Benchmark of Linguistic Minimal Pairs (</a:t>
            </a:r>
            <a:r>
              <a:rPr lang="en-CN" sz="2400" dirty="0">
                <a:hlinkClick r:id="rId4"/>
              </a:rPr>
              <a:t>BLiMP</a:t>
            </a:r>
            <a:r>
              <a:rPr lang="en-CN" sz="2400" dirty="0"/>
              <a:t>)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A</a:t>
            </a:r>
            <a:r>
              <a:rPr lang="en-CN" sz="2400" dirty="0"/>
              <a:t> challenge set</a:t>
            </a:r>
            <a:r>
              <a:rPr lang="zh-CN" altLang="en-US" sz="2400" dirty="0"/>
              <a:t> </a:t>
            </a:r>
            <a:r>
              <a:rPr lang="en-CN" sz="2400" dirty="0"/>
              <a:t>for evaluating the linguistic knowledge of</a:t>
            </a:r>
            <a:r>
              <a:rPr lang="zh-CN" altLang="en-US" sz="2400" dirty="0"/>
              <a:t> </a:t>
            </a:r>
            <a:r>
              <a:rPr lang="en-CN" sz="2400" dirty="0"/>
              <a:t>language models (LMs) on major grammatical phenomena in English</a:t>
            </a:r>
          </a:p>
        </p:txBody>
      </p:sp>
    </p:spTree>
    <p:extLst>
      <p:ext uri="{BB962C8B-B14F-4D97-AF65-F5344CB8AC3E}">
        <p14:creationId xmlns:p14="http://schemas.microsoft.com/office/powerpoint/2010/main" val="35161180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CD8F-9D53-EBA0-6FFB-4FFEDE793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HumanEval</a:t>
            </a:r>
            <a:endParaRPr lang="en-C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4A7D5A-6037-9529-3DA9-FED63D17D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740" y="1027755"/>
            <a:ext cx="6344173" cy="532770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99C10-DE4B-7888-E786-8ED4F7D5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41</a:t>
            </a:fld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0CB177-7DB0-860B-5D37-2827878E2C9E}"/>
              </a:ext>
            </a:extLst>
          </p:cNvPr>
          <p:cNvSpPr txBox="1"/>
          <p:nvPr/>
        </p:nvSpPr>
        <p:spPr>
          <a:xfrm>
            <a:off x="608341" y="1583816"/>
            <a:ext cx="539949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000" dirty="0"/>
              <a:t>T</a:t>
            </a:r>
            <a:r>
              <a:rPr lang="en-US" sz="2000" dirty="0"/>
              <a:t>he task of generating standalone Python functions from docstrings, and evaluate the</a:t>
            </a:r>
            <a:r>
              <a:rPr lang="zh-CN" altLang="en-US" sz="2000" dirty="0"/>
              <a:t> </a:t>
            </a:r>
            <a:r>
              <a:rPr lang="en-US" sz="2000" dirty="0"/>
              <a:t>correctness of code samples automatically through unit</a:t>
            </a:r>
            <a:r>
              <a:rPr lang="zh-CN" altLang="en-US" sz="2000" dirty="0"/>
              <a:t> </a:t>
            </a:r>
            <a:r>
              <a:rPr lang="en-US" sz="2000" dirty="0"/>
              <a:t>tests.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 accurately benchmark our model,</a:t>
            </a:r>
            <a:r>
              <a:rPr lang="zh-CN" altLang="en-US" sz="2000" dirty="0"/>
              <a:t> </a:t>
            </a:r>
            <a:r>
              <a:rPr lang="en-US" sz="2000" dirty="0"/>
              <a:t>we create a dataset of 164 original programming problems</a:t>
            </a:r>
            <a:r>
              <a:rPr lang="zh-CN" altLang="en-US" sz="2000" dirty="0"/>
              <a:t> </a:t>
            </a:r>
            <a:r>
              <a:rPr lang="en-US" sz="2000" dirty="0"/>
              <a:t>with unit tests.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These problems assess language</a:t>
            </a:r>
            <a:r>
              <a:rPr lang="zh-CN" altLang="en-US" sz="2000" dirty="0"/>
              <a:t> </a:t>
            </a:r>
            <a:r>
              <a:rPr lang="en-US" sz="2000" dirty="0"/>
              <a:t>comprehension, algorithms, and simple mathematics, with some</a:t>
            </a:r>
            <a:r>
              <a:rPr lang="zh-CN" altLang="en-US" sz="2000" dirty="0"/>
              <a:t> </a:t>
            </a:r>
            <a:r>
              <a:rPr lang="en-US" sz="2000" dirty="0"/>
              <a:t>comparable to simple software interview questions.</a:t>
            </a:r>
            <a:endParaRPr lang="en-CN" sz="2000" dirty="0"/>
          </a:p>
        </p:txBody>
      </p:sp>
    </p:spTree>
    <p:extLst>
      <p:ext uri="{BB962C8B-B14F-4D97-AF65-F5344CB8AC3E}">
        <p14:creationId xmlns:p14="http://schemas.microsoft.com/office/powerpoint/2010/main" val="22745362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79D39-E348-6F20-7CA9-88E7CDBA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Dynabench: </a:t>
            </a:r>
            <a:r>
              <a:rPr lang="en-US" sz="2800" dirty="0">
                <a:solidFill>
                  <a:srgbClr val="00B050"/>
                </a:solidFill>
              </a:rPr>
              <a:t>Rethinking Benchmarking in NLP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CFFE3-BC7B-EEDA-74C1-233380A0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42</a:t>
            </a:fld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3FCD0E-4A07-5A0A-3168-C9B5FE087172}"/>
              </a:ext>
            </a:extLst>
          </p:cNvPr>
          <p:cNvSpPr txBox="1"/>
          <p:nvPr/>
        </p:nvSpPr>
        <p:spPr>
          <a:xfrm>
            <a:off x="8097584" y="6417354"/>
            <a:ext cx="3681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hlinkClick r:id="rId2"/>
              </a:rPr>
              <a:t>https://arxiv.org/pdf/2104.14337</a:t>
            </a:r>
            <a:r>
              <a:rPr lang="zh-CN" altLang="en-US" dirty="0"/>
              <a:t> </a:t>
            </a:r>
            <a:endParaRPr lang="en-C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08F5F7-69DA-6363-9AC3-DD98D9842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312" y="1002553"/>
            <a:ext cx="6757375" cy="44028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08A0C0-D0D8-FDF6-2910-13DD67260913}"/>
              </a:ext>
            </a:extLst>
          </p:cNvPr>
          <p:cNvSpPr txBox="1"/>
          <p:nvPr/>
        </p:nvSpPr>
        <p:spPr>
          <a:xfrm>
            <a:off x="2717312" y="5532431"/>
            <a:ext cx="7509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Benchmark saturation over time for popular</a:t>
            </a:r>
            <a:r>
              <a:rPr lang="zh-CN" altLang="en-US" dirty="0"/>
              <a:t> </a:t>
            </a:r>
            <a:r>
              <a:rPr lang="en-US" dirty="0"/>
              <a:t>benchmarks, normalized with initial performance at minus one and human performance at zero.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2433549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76100-1B52-9ED9-AF07-725192846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hlinkClick r:id="rId2"/>
              </a:rPr>
              <a:t>https://contextual.ai/plotting-progress-in-ai/</a:t>
            </a:r>
            <a:r>
              <a:rPr lang="zh-CN" altLang="en-US" sz="3600" dirty="0"/>
              <a:t> 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BAB42-0259-64FB-2BB1-27EEB848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43</a:t>
            </a:fld>
            <a:endParaRPr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69552DD-E0DC-AB52-145B-2DB90874A8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26" y="875497"/>
            <a:ext cx="4987270" cy="3531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070F4C-33C7-412E-4E89-545E41DFDB09}"/>
              </a:ext>
            </a:extLst>
          </p:cNvPr>
          <p:cNvSpPr txBox="1"/>
          <p:nvPr/>
        </p:nvSpPr>
        <p:spPr>
          <a:xfrm>
            <a:off x="8010727" y="4504537"/>
            <a:ext cx="2816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BIG-Bench Hard (BBH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endParaRPr lang="en-C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1FBC5C-577E-1D00-E86E-6B89A5CB0A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595" y="1616439"/>
            <a:ext cx="6157609" cy="26474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9A9AC7-78EB-BF66-8386-A4B3AE5E450E}"/>
              </a:ext>
            </a:extLst>
          </p:cNvPr>
          <p:cNvSpPr txBox="1"/>
          <p:nvPr/>
        </p:nvSpPr>
        <p:spPr>
          <a:xfrm>
            <a:off x="7349247" y="5004877"/>
            <a:ext cx="3604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hlinkClick r:id="rId5"/>
              </a:rPr>
              <a:t>https://arxiv.org/pdf/2210.09261</a:t>
            </a:r>
            <a:r>
              <a:rPr lang="zh-CN" altLang="en-US" dirty="0"/>
              <a:t> </a:t>
            </a:r>
            <a:endParaRPr lang="en-CN" dirty="0"/>
          </a:p>
        </p:txBody>
      </p:sp>
      <p:pic>
        <p:nvPicPr>
          <p:cNvPr id="3" name="Picture 2" descr="Progress on recent LLM benchmarks over time plot">
            <a:extLst>
              <a:ext uri="{FF2B5EF4-FFF2-40B4-BE49-F238E27FC236}">
                <a16:creationId xmlns:a16="http://schemas.microsoft.com/office/drawing/2014/main" id="{86920A9B-A75A-4EC5-52EA-D2C7443EA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201" y="4589497"/>
            <a:ext cx="2971920" cy="222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2709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35A7-F19F-806D-1850-041ADDD7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arcprize.org</a:t>
            </a:r>
            <a:r>
              <a:rPr lang="en-US" dirty="0">
                <a:hlinkClick r:id="rId2"/>
              </a:rPr>
              <a:t>/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F9D4F-23C5-594E-A0A6-4AE04D13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44</a:t>
            </a:fld>
            <a:endParaRPr lang="zh-CN" altLang="en-US" dirty="0"/>
          </a:p>
        </p:txBody>
      </p:sp>
      <p:pic>
        <p:nvPicPr>
          <p:cNvPr id="3074" name="Picture 2" descr="ARC-AGI-2: Scale is Not Enough">
            <a:extLst>
              <a:ext uri="{FF2B5EF4-FFF2-40B4-BE49-F238E27FC236}">
                <a16:creationId xmlns:a16="http://schemas.microsoft.com/office/drawing/2014/main" id="{436B3EDB-07D0-1224-711D-3C624FA0ED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32" y="984250"/>
            <a:ext cx="9793111" cy="550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10841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896E0-4AEB-4A46-BB63-EB65B883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674767-B0A7-4316-926D-B55D6872F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[1]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2"/>
              </a:rPr>
              <a:t>Slides</a:t>
            </a:r>
            <a:r>
              <a:rPr lang="zh-CN" altLang="en-US" sz="1800" dirty="0">
                <a:hlinkClick r:id="rId2"/>
              </a:rPr>
              <a:t> </a:t>
            </a:r>
            <a:r>
              <a:rPr lang="en-US" altLang="zh-CN" sz="1800" dirty="0">
                <a:hlinkClick r:id="rId2"/>
              </a:rPr>
              <a:t>from</a:t>
            </a:r>
            <a:r>
              <a:rPr lang="zh-CN" altLang="en-US" sz="1800" dirty="0">
                <a:hlinkClick r:id="rId2"/>
              </a:rPr>
              <a:t> </a:t>
            </a:r>
            <a:r>
              <a:rPr lang="en-US" altLang="zh-CN" sz="1800" dirty="0">
                <a:hlinkClick r:id="rId2"/>
              </a:rPr>
              <a:t>Anoop</a:t>
            </a:r>
            <a:r>
              <a:rPr lang="zh-CN" altLang="en-US" sz="1800" dirty="0">
                <a:hlinkClick r:id="rId2"/>
              </a:rPr>
              <a:t> </a:t>
            </a:r>
            <a:r>
              <a:rPr lang="en-US" altLang="zh-CN" sz="1800" dirty="0">
                <a:hlinkClick r:id="rId2"/>
              </a:rPr>
              <a:t>Sarkar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[2]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3"/>
              </a:rPr>
              <a:t>A Survey on Evaluation of Large Language Models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[3]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4"/>
              </a:rPr>
              <a:t>https://decanlp.com/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[4]</a:t>
            </a:r>
            <a:r>
              <a:rPr lang="zh-CN" altLang="en-US" sz="1800" dirty="0"/>
              <a:t> </a:t>
            </a:r>
            <a:r>
              <a:rPr lang="en-US" altLang="zh-CN" sz="1800" dirty="0"/>
              <a:t>GPT-4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5"/>
              </a:rPr>
              <a:t>https://arxiv.org/pdf/2303.08774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[5]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6"/>
              </a:rPr>
              <a:t>https://rowanzellers.com/hellaswag/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[6]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7"/>
              </a:rPr>
              <a:t>https://rowanzellers.com/swag/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[7]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8"/>
              </a:rPr>
              <a:t>https://allenai.org/data/arc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[8]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9"/>
              </a:rPr>
              <a:t>https://winogrande.allenai.org/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[9]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10"/>
              </a:rPr>
              <a:t>https://allenai.org/data/drop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[10]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11"/>
              </a:rPr>
              <a:t>https://crfm.stanford.edu/helm/mmlu/latest/#/leaderboard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endParaRPr lang="en-US" altLang="zh-CN" sz="1800" dirty="0"/>
          </a:p>
          <a:p>
            <a:pPr marL="0" indent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altLang="zh-CN" sz="1800" dirty="0"/>
              <a:t>Next</a:t>
            </a:r>
            <a:r>
              <a:rPr lang="zh-CN" altLang="en-US" sz="1800" dirty="0"/>
              <a:t> </a:t>
            </a:r>
            <a:r>
              <a:rPr lang="en-US" altLang="zh-CN" sz="1800" dirty="0"/>
              <a:t>topic:</a:t>
            </a:r>
            <a:r>
              <a:rPr lang="zh-CN" altLang="en-US" sz="1800" dirty="0"/>
              <a:t> </a:t>
            </a:r>
            <a:r>
              <a:rPr lang="en-US" altLang="zh-CN" sz="1800" dirty="0"/>
              <a:t>Post-training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918FDC-FD56-4F87-BDBE-40D3BC372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86550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63B078-308C-B9F6-78C9-13E5F6BF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>
                <a:latin typeface="Tahoma"/>
                <a:ea typeface="Tahoma"/>
                <a:cs typeface="Tahoma"/>
              </a:rPr>
              <a:t>Humanity's Last Exam (HLE)</a:t>
            </a:r>
            <a:endParaRPr lang="en-CN" sz="3600">
              <a:latin typeface="Tahoma"/>
              <a:ea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4BCAF5-6CC1-FE40-A491-E018E3314FA7}"/>
              </a:ext>
            </a:extLst>
          </p:cNvPr>
          <p:cNvSpPr txBox="1"/>
          <p:nvPr/>
        </p:nvSpPr>
        <p:spPr>
          <a:xfrm>
            <a:off x="457200" y="889000"/>
            <a:ext cx="1127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555555"/>
                </a:solidFill>
                <a:latin typeface="Tahoma"/>
                <a:ea typeface="Tahoma"/>
                <a:cs typeface="Tahoma"/>
              </a:rPr>
              <a:t>A multi-modal benchmark at the frontier of human knowledge</a:t>
            </a:r>
            <a:endParaRPr lang="en-CN" sz="1600" i="1">
              <a:solidFill>
                <a:srgbClr val="55555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5C3EB0-9EA6-8947-9F17-C11B67D59CA7}"/>
              </a:ext>
            </a:extLst>
          </p:cNvPr>
          <p:cNvSpPr/>
          <p:nvPr/>
        </p:nvSpPr>
        <p:spPr>
          <a:xfrm>
            <a:off x="635000" y="1460500"/>
            <a:ext cx="2540000" cy="1016000"/>
          </a:xfrm>
          <a:prstGeom prst="round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E5E49B-93B6-7F49-B134-75CB8128CA2A}"/>
              </a:ext>
            </a:extLst>
          </p:cNvPr>
          <p:cNvSpPr txBox="1"/>
          <p:nvPr/>
        </p:nvSpPr>
        <p:spPr>
          <a:xfrm>
            <a:off x="762000" y="1562100"/>
            <a:ext cx="2286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N" sz="28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2,500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53E196-3255-3840-B861-9FD4A4F741E9}"/>
              </a:ext>
            </a:extLst>
          </p:cNvPr>
          <p:cNvSpPr txBox="1"/>
          <p:nvPr/>
        </p:nvSpPr>
        <p:spPr>
          <a:xfrm>
            <a:off x="762000" y="20447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Questions</a:t>
            </a:r>
            <a:endParaRPr lang="en-CN" sz="1400">
              <a:solidFill>
                <a:srgbClr val="44444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8BDECE1-558F-D142-85F6-9FBC71C310BB}"/>
              </a:ext>
            </a:extLst>
          </p:cNvPr>
          <p:cNvSpPr/>
          <p:nvPr/>
        </p:nvSpPr>
        <p:spPr>
          <a:xfrm>
            <a:off x="3429000" y="1460500"/>
            <a:ext cx="2540000" cy="1016000"/>
          </a:xfrm>
          <a:prstGeom prst="round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8CD1AB-AE0B-B846-B5D2-E2F71720A75B}"/>
              </a:ext>
            </a:extLst>
          </p:cNvPr>
          <p:cNvSpPr txBox="1"/>
          <p:nvPr/>
        </p:nvSpPr>
        <p:spPr>
          <a:xfrm>
            <a:off x="3556000" y="1562100"/>
            <a:ext cx="2286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N" sz="28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100+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3A9A3E-083B-EF4A-86FB-6480BF744E95}"/>
              </a:ext>
            </a:extLst>
          </p:cNvPr>
          <p:cNvSpPr txBox="1"/>
          <p:nvPr/>
        </p:nvSpPr>
        <p:spPr>
          <a:xfrm>
            <a:off x="3556000" y="20447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Subjects</a:t>
            </a:r>
            <a:endParaRPr lang="en-CN" sz="1400">
              <a:solidFill>
                <a:srgbClr val="44444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92122D1-A710-8948-9866-0E8CDC475BCC}"/>
              </a:ext>
            </a:extLst>
          </p:cNvPr>
          <p:cNvSpPr/>
          <p:nvPr/>
        </p:nvSpPr>
        <p:spPr>
          <a:xfrm>
            <a:off x="6223000" y="1460500"/>
            <a:ext cx="2540000" cy="1016000"/>
          </a:xfrm>
          <a:prstGeom prst="round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63CDC3-74EC-3E46-9196-21A6DF215389}"/>
              </a:ext>
            </a:extLst>
          </p:cNvPr>
          <p:cNvSpPr txBox="1"/>
          <p:nvPr/>
        </p:nvSpPr>
        <p:spPr>
          <a:xfrm>
            <a:off x="6350000" y="1562100"/>
            <a:ext cx="2286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N" sz="28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1,000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97249F-A392-2548-8DD0-A7C51E0E59BE}"/>
              </a:ext>
            </a:extLst>
          </p:cNvPr>
          <p:cNvSpPr txBox="1"/>
          <p:nvPr/>
        </p:nvSpPr>
        <p:spPr>
          <a:xfrm>
            <a:off x="6350000" y="20447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Expert Contributors</a:t>
            </a:r>
            <a:endParaRPr lang="en-CN" sz="1400">
              <a:solidFill>
                <a:srgbClr val="44444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566FF77-4B08-BB45-B320-9169C110EC8B}"/>
              </a:ext>
            </a:extLst>
          </p:cNvPr>
          <p:cNvSpPr/>
          <p:nvPr/>
        </p:nvSpPr>
        <p:spPr>
          <a:xfrm>
            <a:off x="9017000" y="1460500"/>
            <a:ext cx="2540000" cy="1016000"/>
          </a:xfrm>
          <a:prstGeom prst="roundRect">
            <a:avLst/>
          </a:prstGeom>
          <a:solidFill>
            <a:srgbClr val="E8ED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68E993-B5BE-0746-9E3D-49E476175FFC}"/>
              </a:ext>
            </a:extLst>
          </p:cNvPr>
          <p:cNvSpPr txBox="1"/>
          <p:nvPr/>
        </p:nvSpPr>
        <p:spPr>
          <a:xfrm>
            <a:off x="9144000" y="1562100"/>
            <a:ext cx="2286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CN" sz="28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50+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55346D-615C-F74F-A64F-1E4EDDA2C284}"/>
              </a:ext>
            </a:extLst>
          </p:cNvPr>
          <p:cNvSpPr txBox="1"/>
          <p:nvPr/>
        </p:nvSpPr>
        <p:spPr>
          <a:xfrm>
            <a:off x="9144000" y="20447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Countries</a:t>
            </a:r>
            <a:endParaRPr lang="en-CN" sz="1400">
              <a:solidFill>
                <a:srgbClr val="44444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F8DE8C-1A5A-1644-ACBB-FBFF03770CE9}"/>
              </a:ext>
            </a:extLst>
          </p:cNvPr>
          <p:cNvSpPr txBox="1"/>
          <p:nvPr/>
        </p:nvSpPr>
        <p:spPr>
          <a:xfrm>
            <a:off x="571500" y="27305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Motivation</a:t>
            </a:r>
            <a:endParaRPr lang="en-CN" sz="1600" b="1">
              <a:solidFill>
                <a:srgbClr val="0E419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E58E9B-D3A6-C346-8622-FFFBD2BC1195}"/>
              </a:ext>
            </a:extLst>
          </p:cNvPr>
          <p:cNvSpPr txBox="1"/>
          <p:nvPr/>
        </p:nvSpPr>
        <p:spPr>
          <a:xfrm>
            <a:off x="571500" y="3187700"/>
            <a:ext cx="3556000" cy="297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• LLMs achieve &gt;90% on MMLU and other popular benchmarks
• Benchmark saturation limits ability to measure frontier capabilities
• Need harder evaluations that test expert-level knowledge</a:t>
            </a:r>
            <a:endParaRPr lang="en-CN" sz="1400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50BA80-E145-274B-8BCE-E6008508CB5B}"/>
              </a:ext>
            </a:extLst>
          </p:cNvPr>
          <p:cNvSpPr txBox="1"/>
          <p:nvPr/>
        </p:nvSpPr>
        <p:spPr>
          <a:xfrm>
            <a:off x="4318000" y="27305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Design Principles</a:t>
            </a:r>
            <a:endParaRPr lang="en-CN" sz="1600" b="1">
              <a:solidFill>
                <a:srgbClr val="0E419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7E2684-ECD9-9649-8EFB-062CD0629C12}"/>
              </a:ext>
            </a:extLst>
          </p:cNvPr>
          <p:cNvSpPr txBox="1"/>
          <p:nvPr/>
        </p:nvSpPr>
        <p:spPr>
          <a:xfrm>
            <a:off x="4318000" y="3187700"/>
            <a:ext cx="3556000" cy="297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• Graduate/PhD-level expertise required
• Questions validated against frontier LLMs before submission
• Two rounds of expert peer review
• Unambiguous, verifiable answers</a:t>
            </a:r>
            <a:endParaRPr lang="en-CN" sz="1400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5A663C-F424-C74D-820A-3BF49CA3110C}"/>
              </a:ext>
            </a:extLst>
          </p:cNvPr>
          <p:cNvSpPr txBox="1"/>
          <p:nvPr/>
        </p:nvSpPr>
        <p:spPr>
          <a:xfrm>
            <a:off x="8064500" y="27305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Coverage</a:t>
            </a:r>
            <a:endParaRPr lang="en-CN" sz="1600" b="1">
              <a:solidFill>
                <a:srgbClr val="0E419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FFFD25-FAD4-B149-8B42-A9342606ADF5}"/>
              </a:ext>
            </a:extLst>
          </p:cNvPr>
          <p:cNvSpPr txBox="1"/>
          <p:nvPr/>
        </p:nvSpPr>
        <p:spPr>
          <a:xfrm>
            <a:off x="8064500" y="3187700"/>
            <a:ext cx="3556000" cy="297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• Math, Physics, Chemistry, Biology/Medicine
• CS/AI, Engineering, Humanities
• Ecology, Musicology, Philosophy, Neuroscience, Law, Art History
• $500K USD prize pool for top questions</a:t>
            </a:r>
            <a:endParaRPr lang="en-CN" sz="1400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3587E6-4235-A148-8C22-5E571BF49FC5}"/>
              </a:ext>
            </a:extLst>
          </p:cNvPr>
          <p:cNvSpPr txBox="1"/>
          <p:nvPr/>
        </p:nvSpPr>
        <p:spPr>
          <a:xfrm>
            <a:off x="457200" y="6350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i="1">
                <a:solidFill>
                  <a:srgbClr val="888888"/>
                </a:solidFill>
                <a:latin typeface="Tahoma"/>
                <a:ea typeface="Tahoma"/>
                <a:cs typeface="Tahoma"/>
              </a:rPr>
              <a:t>Source: Phan et al. (2025) "Humanity's Last Exam" — lastexam.ai</a:t>
            </a:r>
            <a:endParaRPr lang="en-CN" sz="1000" i="1">
              <a:solidFill>
                <a:srgbClr val="88888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AB53C9-013A-574F-A294-01EDD41FDAA3}"/>
              </a:ext>
            </a:extLst>
          </p:cNvPr>
          <p:cNvSpPr/>
          <p:nvPr/>
        </p:nvSpPr>
        <p:spPr>
          <a:xfrm>
            <a:off x="571500" y="3086100"/>
            <a:ext cx="3556000" cy="25400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9AE190-6FE2-1746-8C2A-FF9A7F0B1A5C}"/>
              </a:ext>
            </a:extLst>
          </p:cNvPr>
          <p:cNvSpPr/>
          <p:nvPr/>
        </p:nvSpPr>
        <p:spPr>
          <a:xfrm>
            <a:off x="4318000" y="3086100"/>
            <a:ext cx="3556000" cy="25400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850DFB-D0D9-8747-8C8D-A1CC38B63DFC}"/>
              </a:ext>
            </a:extLst>
          </p:cNvPr>
          <p:cNvSpPr/>
          <p:nvPr/>
        </p:nvSpPr>
        <p:spPr>
          <a:xfrm>
            <a:off x="8064500" y="3086100"/>
            <a:ext cx="3556000" cy="25400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141248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435809-C38B-A561-950E-3990DA21F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>
                <a:latin typeface="Tahoma"/>
                <a:ea typeface="Tahoma"/>
                <a:cs typeface="Tahoma"/>
              </a:rPr>
              <a:t>Model Performance on HLE</a:t>
            </a:r>
            <a:endParaRPr lang="en-CN" sz="3600">
              <a:latin typeface="Tahoma"/>
              <a:ea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88193-7B77-6444-87ED-AD60139BB52E}"/>
              </a:ext>
            </a:extLst>
          </p:cNvPr>
          <p:cNvSpPr txBox="1"/>
          <p:nvPr/>
        </p:nvSpPr>
        <p:spPr>
          <a:xfrm>
            <a:off x="457200" y="762000"/>
            <a:ext cx="1127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55555"/>
                </a:solidFill>
                <a:latin typeface="Tahoma"/>
                <a:ea typeface="Tahoma"/>
                <a:cs typeface="Tahoma"/>
              </a:rPr>
              <a:t>All frontier models achieve very low accuracy — best model (o3-mini) scores only 13.4%</a:t>
            </a:r>
            <a:endParaRPr lang="en-CN" sz="1400" i="1">
              <a:solidFill>
                <a:srgbClr val="55555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42E371-17AB-B648-B83E-83B082686E9D}"/>
              </a:ext>
            </a:extLst>
          </p:cNvPr>
          <p:cNvSpPr/>
          <p:nvPr/>
        </p:nvSpPr>
        <p:spPr>
          <a:xfrm>
            <a:off x="381000" y="1206500"/>
            <a:ext cx="4318000" cy="431800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DD426-ECDD-7445-B6D2-00F8754E807D}"/>
              </a:ext>
            </a:extLst>
          </p:cNvPr>
          <p:cNvSpPr txBox="1"/>
          <p:nvPr/>
        </p:nvSpPr>
        <p:spPr>
          <a:xfrm>
            <a:off x="457200" y="1206500"/>
            <a:ext cx="2209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Model</a:t>
            </a:r>
            <a:endParaRPr lang="en-CN" sz="1100" b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F76EF-2F7F-F649-A9D4-72FF756E8E72}"/>
              </a:ext>
            </a:extLst>
          </p:cNvPr>
          <p:cNvSpPr txBox="1"/>
          <p:nvPr/>
        </p:nvSpPr>
        <p:spPr>
          <a:xfrm>
            <a:off x="2667000" y="1206500"/>
            <a:ext cx="889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Acc. (%)</a:t>
            </a:r>
            <a:endParaRPr lang="en-CN" sz="1100" b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E06640-8262-FD45-82CD-621E4F375508}"/>
              </a:ext>
            </a:extLst>
          </p:cNvPr>
          <p:cNvSpPr txBox="1"/>
          <p:nvPr/>
        </p:nvSpPr>
        <p:spPr>
          <a:xfrm>
            <a:off x="3556000" y="1206500"/>
            <a:ext cx="1143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Cal. Err. (%)</a:t>
            </a:r>
            <a:endParaRPr lang="en-CN" sz="1100" b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AEFEA1-AB12-E04E-AB67-F6AD557DCE68}"/>
              </a:ext>
            </a:extLst>
          </p:cNvPr>
          <p:cNvSpPr txBox="1"/>
          <p:nvPr/>
        </p:nvSpPr>
        <p:spPr>
          <a:xfrm>
            <a:off x="457200" y="1638300"/>
            <a:ext cx="2209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GPT-4o</a:t>
            </a:r>
            <a:endParaRPr lang="en-CN" sz="1100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37652-F16C-F043-9842-49D20C702D66}"/>
              </a:ext>
            </a:extLst>
          </p:cNvPr>
          <p:cNvSpPr txBox="1"/>
          <p:nvPr/>
        </p:nvSpPr>
        <p:spPr>
          <a:xfrm>
            <a:off x="2667000" y="1638300"/>
            <a:ext cx="889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2.7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B8C06-1DEC-CD4A-BCAB-CDE75380D55E}"/>
              </a:ext>
            </a:extLst>
          </p:cNvPr>
          <p:cNvSpPr txBox="1"/>
          <p:nvPr/>
        </p:nvSpPr>
        <p:spPr>
          <a:xfrm>
            <a:off x="3556000" y="1638300"/>
            <a:ext cx="1143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89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211C82-1771-6449-A87A-329AF3EA3741}"/>
              </a:ext>
            </a:extLst>
          </p:cNvPr>
          <p:cNvSpPr/>
          <p:nvPr/>
        </p:nvSpPr>
        <p:spPr>
          <a:xfrm>
            <a:off x="381000" y="2070100"/>
            <a:ext cx="4318000" cy="4318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216B02-FC10-C443-A4D3-969BAE67063B}"/>
              </a:ext>
            </a:extLst>
          </p:cNvPr>
          <p:cNvSpPr txBox="1"/>
          <p:nvPr/>
        </p:nvSpPr>
        <p:spPr>
          <a:xfrm>
            <a:off x="457200" y="2070100"/>
            <a:ext cx="2209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Grok 2</a:t>
            </a:r>
            <a:endParaRPr lang="en-CN" sz="1100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5B1F98-D52F-5D4C-B6FD-745168ED793E}"/>
              </a:ext>
            </a:extLst>
          </p:cNvPr>
          <p:cNvSpPr txBox="1"/>
          <p:nvPr/>
        </p:nvSpPr>
        <p:spPr>
          <a:xfrm>
            <a:off x="2667000" y="2070100"/>
            <a:ext cx="889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3.0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F0568B-BA5B-8544-ABC2-8848FF9C3AB5}"/>
              </a:ext>
            </a:extLst>
          </p:cNvPr>
          <p:cNvSpPr txBox="1"/>
          <p:nvPr/>
        </p:nvSpPr>
        <p:spPr>
          <a:xfrm>
            <a:off x="3556000" y="2070100"/>
            <a:ext cx="1143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4C7760-F03E-A047-A30B-08FEA60C34F1}"/>
              </a:ext>
            </a:extLst>
          </p:cNvPr>
          <p:cNvSpPr txBox="1"/>
          <p:nvPr/>
        </p:nvSpPr>
        <p:spPr>
          <a:xfrm>
            <a:off x="457200" y="2501900"/>
            <a:ext cx="2209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Claude 3.5 Sonnet</a:t>
            </a:r>
            <a:endParaRPr lang="en-CN" sz="1100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B72EC8-967F-8140-9898-D389F2AA38EE}"/>
              </a:ext>
            </a:extLst>
          </p:cNvPr>
          <p:cNvSpPr txBox="1"/>
          <p:nvPr/>
        </p:nvSpPr>
        <p:spPr>
          <a:xfrm>
            <a:off x="2667000" y="2501900"/>
            <a:ext cx="889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4.1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E7C94A-44E7-7344-890A-89B2A97D96BB}"/>
              </a:ext>
            </a:extLst>
          </p:cNvPr>
          <p:cNvSpPr txBox="1"/>
          <p:nvPr/>
        </p:nvSpPr>
        <p:spPr>
          <a:xfrm>
            <a:off x="3556000" y="2501900"/>
            <a:ext cx="1143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84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BD12EF-D82B-B041-B311-295A508B4488}"/>
              </a:ext>
            </a:extLst>
          </p:cNvPr>
          <p:cNvSpPr/>
          <p:nvPr/>
        </p:nvSpPr>
        <p:spPr>
          <a:xfrm>
            <a:off x="381000" y="2933700"/>
            <a:ext cx="4318000" cy="4318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873579-2EB5-2548-AD80-60D633BD61F3}"/>
              </a:ext>
            </a:extLst>
          </p:cNvPr>
          <p:cNvSpPr txBox="1"/>
          <p:nvPr/>
        </p:nvSpPr>
        <p:spPr>
          <a:xfrm>
            <a:off x="457200" y="2933700"/>
            <a:ext cx="2209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Gemini 1.5 Pro</a:t>
            </a:r>
            <a:endParaRPr lang="en-CN" sz="1100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66A309-EF0E-1142-ACB4-9AC44674CE01}"/>
              </a:ext>
            </a:extLst>
          </p:cNvPr>
          <p:cNvSpPr txBox="1"/>
          <p:nvPr/>
        </p:nvSpPr>
        <p:spPr>
          <a:xfrm>
            <a:off x="2667000" y="2933700"/>
            <a:ext cx="889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4.6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BF7C75-10A6-7C4C-9797-65C84F2EE452}"/>
              </a:ext>
            </a:extLst>
          </p:cNvPr>
          <p:cNvSpPr txBox="1"/>
          <p:nvPr/>
        </p:nvSpPr>
        <p:spPr>
          <a:xfrm>
            <a:off x="3556000" y="2933700"/>
            <a:ext cx="1143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88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E25B85-52C5-E84E-9BAC-C9FDC890562E}"/>
              </a:ext>
            </a:extLst>
          </p:cNvPr>
          <p:cNvSpPr txBox="1"/>
          <p:nvPr/>
        </p:nvSpPr>
        <p:spPr>
          <a:xfrm>
            <a:off x="457200" y="3365500"/>
            <a:ext cx="2209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Gem. 2.0 Flash Think.</a:t>
            </a:r>
            <a:endParaRPr lang="en-CN" sz="1100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D15F06-A5B5-9044-A581-8521E9651633}"/>
              </a:ext>
            </a:extLst>
          </p:cNvPr>
          <p:cNvSpPr txBox="1"/>
          <p:nvPr/>
        </p:nvSpPr>
        <p:spPr>
          <a:xfrm>
            <a:off x="2667000" y="3365500"/>
            <a:ext cx="889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6.6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C156E2-21AC-1048-BAD5-652BCACBAB54}"/>
              </a:ext>
            </a:extLst>
          </p:cNvPr>
          <p:cNvSpPr txBox="1"/>
          <p:nvPr/>
        </p:nvSpPr>
        <p:spPr>
          <a:xfrm>
            <a:off x="3556000" y="3365500"/>
            <a:ext cx="1143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82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8C38CF-5FC9-A244-A69C-CFA9E89CAD04}"/>
              </a:ext>
            </a:extLst>
          </p:cNvPr>
          <p:cNvSpPr/>
          <p:nvPr/>
        </p:nvSpPr>
        <p:spPr>
          <a:xfrm>
            <a:off x="381000" y="3797300"/>
            <a:ext cx="4318000" cy="4318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B50EE6-F93C-A142-A175-0870570E1C66}"/>
              </a:ext>
            </a:extLst>
          </p:cNvPr>
          <p:cNvSpPr txBox="1"/>
          <p:nvPr/>
        </p:nvSpPr>
        <p:spPr>
          <a:xfrm>
            <a:off x="457200" y="3797300"/>
            <a:ext cx="2209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o1</a:t>
            </a:r>
            <a:endParaRPr lang="en-CN" sz="1100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02CE10-3224-EF4F-ABB9-06C37AF59F20}"/>
              </a:ext>
            </a:extLst>
          </p:cNvPr>
          <p:cNvSpPr txBox="1"/>
          <p:nvPr/>
        </p:nvSpPr>
        <p:spPr>
          <a:xfrm>
            <a:off x="2667000" y="3797300"/>
            <a:ext cx="889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8.0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58C028-FEAF-AA4F-8A55-16751F810AEA}"/>
              </a:ext>
            </a:extLst>
          </p:cNvPr>
          <p:cNvSpPr txBox="1"/>
          <p:nvPr/>
        </p:nvSpPr>
        <p:spPr>
          <a:xfrm>
            <a:off x="3556000" y="3797300"/>
            <a:ext cx="1143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83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477C69-6C29-AD40-9307-FA35FA28CFDF}"/>
              </a:ext>
            </a:extLst>
          </p:cNvPr>
          <p:cNvSpPr txBox="1"/>
          <p:nvPr/>
        </p:nvSpPr>
        <p:spPr>
          <a:xfrm>
            <a:off x="457200" y="4229100"/>
            <a:ext cx="2209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DeepSeek-R1*</a:t>
            </a:r>
            <a:endParaRPr lang="en-CN" sz="1100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B8EB0A-20FB-0D4A-A1FD-5468F22977C7}"/>
              </a:ext>
            </a:extLst>
          </p:cNvPr>
          <p:cNvSpPr txBox="1"/>
          <p:nvPr/>
        </p:nvSpPr>
        <p:spPr>
          <a:xfrm>
            <a:off x="2667000" y="4229100"/>
            <a:ext cx="889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8.5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0342AE-4DDC-0C4A-8C59-420299B1D472}"/>
              </a:ext>
            </a:extLst>
          </p:cNvPr>
          <p:cNvSpPr txBox="1"/>
          <p:nvPr/>
        </p:nvSpPr>
        <p:spPr>
          <a:xfrm>
            <a:off x="3556000" y="4229100"/>
            <a:ext cx="1143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73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9FA37C-9D01-004D-984E-FDF52FFB6F00}"/>
              </a:ext>
            </a:extLst>
          </p:cNvPr>
          <p:cNvSpPr/>
          <p:nvPr/>
        </p:nvSpPr>
        <p:spPr>
          <a:xfrm>
            <a:off x="381000" y="4660900"/>
            <a:ext cx="4318000" cy="431800"/>
          </a:xfrm>
          <a:prstGeom prst="rect">
            <a:avLst/>
          </a:prstGeom>
          <a:solidFill>
            <a:srgbClr val="D4E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ADADDE-48A7-6C4C-A7DE-C3232DB3A8ED}"/>
              </a:ext>
            </a:extLst>
          </p:cNvPr>
          <p:cNvSpPr txBox="1"/>
          <p:nvPr/>
        </p:nvSpPr>
        <p:spPr>
          <a:xfrm>
            <a:off x="457200" y="4660900"/>
            <a:ext cx="22098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  <a:latin typeface="Tahoma"/>
                <a:ea typeface="Tahoma"/>
                <a:cs typeface="Tahoma"/>
              </a:rPr>
              <a:t>o3-mini (high)*</a:t>
            </a:r>
            <a:endParaRPr lang="en-CN" sz="1100" b="1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ACF837-5450-F84A-90A2-C5CC71559D64}"/>
              </a:ext>
            </a:extLst>
          </p:cNvPr>
          <p:cNvSpPr txBox="1"/>
          <p:nvPr/>
        </p:nvSpPr>
        <p:spPr>
          <a:xfrm>
            <a:off x="2667000" y="4660900"/>
            <a:ext cx="889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 b="1">
                <a:solidFill>
                  <a:srgbClr val="333333"/>
                </a:solidFill>
                <a:latin typeface="Tahoma"/>
                <a:ea typeface="Tahoma"/>
                <a:cs typeface="Tahoma"/>
              </a:rPr>
              <a:t>13.4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BD2922-2BC0-6949-A8FD-446CAE932381}"/>
              </a:ext>
            </a:extLst>
          </p:cNvPr>
          <p:cNvSpPr txBox="1"/>
          <p:nvPr/>
        </p:nvSpPr>
        <p:spPr>
          <a:xfrm>
            <a:off x="3556000" y="4660900"/>
            <a:ext cx="1143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100" b="1">
                <a:solidFill>
                  <a:srgbClr val="333333"/>
                </a:solidFill>
                <a:latin typeface="Tahoma"/>
                <a:ea typeface="Tahoma"/>
                <a:cs typeface="Tahoma"/>
              </a:rPr>
              <a:t>80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534AB3F-6866-5044-850F-A8F447836F64}"/>
              </a:ext>
            </a:extLst>
          </p:cNvPr>
          <p:cNvSpPr/>
          <p:nvPr/>
        </p:nvSpPr>
        <p:spPr>
          <a:xfrm>
            <a:off x="381000" y="1206500"/>
            <a:ext cx="4318000" cy="3886200"/>
          </a:xfrm>
          <a:prstGeom prst="rect">
            <a:avLst/>
          </a:prstGeom>
          <a:noFill/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39CB65-69E2-E448-94C3-0993502614B5}"/>
              </a:ext>
            </a:extLst>
          </p:cNvPr>
          <p:cNvSpPr txBox="1"/>
          <p:nvPr/>
        </p:nvSpPr>
        <p:spPr>
          <a:xfrm>
            <a:off x="5461000" y="9779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Accuracy (%) — Higher is Better</a:t>
            </a:r>
            <a:endParaRPr lang="en-CN" sz="1400" b="1">
              <a:solidFill>
                <a:srgbClr val="0E419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067D81-D811-334A-A9EB-1700321FE8D2}"/>
              </a:ext>
            </a:extLst>
          </p:cNvPr>
          <p:cNvSpPr txBox="1"/>
          <p:nvPr/>
        </p:nvSpPr>
        <p:spPr>
          <a:xfrm>
            <a:off x="5461000" y="12065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GPT-4o</a:t>
            </a:r>
            <a:endParaRPr lang="en-CN" sz="1000">
              <a:solidFill>
                <a:srgbClr val="44444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3CF4EEC-71C1-FF46-A114-9017A96BA7B5}"/>
              </a:ext>
            </a:extLst>
          </p:cNvPr>
          <p:cNvSpPr/>
          <p:nvPr/>
        </p:nvSpPr>
        <p:spPr>
          <a:xfrm>
            <a:off x="7429500" y="1244600"/>
            <a:ext cx="635000" cy="228600"/>
          </a:xfrm>
          <a:prstGeom prst="roundRect">
            <a:avLst/>
          </a:prstGeom>
          <a:solidFill>
            <a:srgbClr val="7BA7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684600-CE8F-364F-9254-82630E28FFAC}"/>
              </a:ext>
            </a:extLst>
          </p:cNvPr>
          <p:cNvSpPr txBox="1"/>
          <p:nvPr/>
        </p:nvSpPr>
        <p:spPr>
          <a:xfrm>
            <a:off x="8128000" y="12065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000" b="1">
                <a:solidFill>
                  <a:srgbClr val="7BA7CC"/>
                </a:solidFill>
                <a:latin typeface="Tahoma"/>
                <a:ea typeface="Tahoma"/>
                <a:cs typeface="Tahoma"/>
              </a:rPr>
              <a:t>2.7%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FB11CA-B62E-BF40-A827-7B1D2B485C0D}"/>
              </a:ext>
            </a:extLst>
          </p:cNvPr>
          <p:cNvSpPr txBox="1"/>
          <p:nvPr/>
        </p:nvSpPr>
        <p:spPr>
          <a:xfrm>
            <a:off x="5461000" y="16383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Grok 2</a:t>
            </a:r>
            <a:endParaRPr lang="en-CN" sz="1000">
              <a:solidFill>
                <a:srgbClr val="44444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4EFE566-F3DF-864F-97C9-67DE1AFF7BBB}"/>
              </a:ext>
            </a:extLst>
          </p:cNvPr>
          <p:cNvSpPr/>
          <p:nvPr/>
        </p:nvSpPr>
        <p:spPr>
          <a:xfrm>
            <a:off x="7429500" y="1676400"/>
            <a:ext cx="711200" cy="228600"/>
          </a:xfrm>
          <a:prstGeom prst="roundRect">
            <a:avLst/>
          </a:prstGeom>
          <a:solidFill>
            <a:srgbClr val="7BA7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076F4B-9E18-4C40-B6FA-DC3598C9F984}"/>
              </a:ext>
            </a:extLst>
          </p:cNvPr>
          <p:cNvSpPr txBox="1"/>
          <p:nvPr/>
        </p:nvSpPr>
        <p:spPr>
          <a:xfrm>
            <a:off x="8204200" y="16383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000" b="1">
                <a:solidFill>
                  <a:srgbClr val="7BA7CC"/>
                </a:solidFill>
                <a:latin typeface="Tahoma"/>
                <a:ea typeface="Tahoma"/>
                <a:cs typeface="Tahoma"/>
              </a:rPr>
              <a:t>3%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BD9043-613D-FD46-9D58-2A873FC3B2FF}"/>
              </a:ext>
            </a:extLst>
          </p:cNvPr>
          <p:cNvSpPr txBox="1"/>
          <p:nvPr/>
        </p:nvSpPr>
        <p:spPr>
          <a:xfrm>
            <a:off x="5461000" y="20701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Claude 3.5 Sonnet</a:t>
            </a:r>
            <a:endParaRPr lang="en-CN" sz="1000">
              <a:solidFill>
                <a:srgbClr val="44444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12734E6E-7F4B-BA4F-9AEF-89A7C7414535}"/>
              </a:ext>
            </a:extLst>
          </p:cNvPr>
          <p:cNvSpPr/>
          <p:nvPr/>
        </p:nvSpPr>
        <p:spPr>
          <a:xfrm>
            <a:off x="7429500" y="2108200"/>
            <a:ext cx="965200" cy="228600"/>
          </a:xfrm>
          <a:prstGeom prst="roundRect">
            <a:avLst/>
          </a:prstGeom>
          <a:solidFill>
            <a:srgbClr val="7BA7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37CDD4-6C34-1945-853B-980E84A74F3B}"/>
              </a:ext>
            </a:extLst>
          </p:cNvPr>
          <p:cNvSpPr txBox="1"/>
          <p:nvPr/>
        </p:nvSpPr>
        <p:spPr>
          <a:xfrm>
            <a:off x="8458200" y="20701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000" b="1">
                <a:solidFill>
                  <a:srgbClr val="7BA7CC"/>
                </a:solidFill>
                <a:latin typeface="Tahoma"/>
                <a:ea typeface="Tahoma"/>
                <a:cs typeface="Tahoma"/>
              </a:rPr>
              <a:t>4.1%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30AD40-5A42-594B-B2B8-59264C5C1DCD}"/>
              </a:ext>
            </a:extLst>
          </p:cNvPr>
          <p:cNvSpPr txBox="1"/>
          <p:nvPr/>
        </p:nvSpPr>
        <p:spPr>
          <a:xfrm>
            <a:off x="5461000" y="25019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Gemini 1.5 Pro</a:t>
            </a:r>
            <a:endParaRPr lang="en-CN" sz="1000">
              <a:solidFill>
                <a:srgbClr val="44444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840F173-49F7-6F4B-9930-7C4CD41E19A7}"/>
              </a:ext>
            </a:extLst>
          </p:cNvPr>
          <p:cNvSpPr/>
          <p:nvPr/>
        </p:nvSpPr>
        <p:spPr>
          <a:xfrm>
            <a:off x="7429500" y="2540000"/>
            <a:ext cx="1079500" cy="228600"/>
          </a:xfrm>
          <a:prstGeom prst="roundRect">
            <a:avLst/>
          </a:prstGeom>
          <a:solidFill>
            <a:srgbClr val="7BA7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3C6A78-3305-5C4C-8DB1-A3614F2EA3B2}"/>
              </a:ext>
            </a:extLst>
          </p:cNvPr>
          <p:cNvSpPr txBox="1"/>
          <p:nvPr/>
        </p:nvSpPr>
        <p:spPr>
          <a:xfrm>
            <a:off x="8572500" y="25019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000" b="1">
                <a:solidFill>
                  <a:srgbClr val="7BA7CC"/>
                </a:solidFill>
                <a:latin typeface="Tahoma"/>
                <a:ea typeface="Tahoma"/>
                <a:cs typeface="Tahoma"/>
              </a:rPr>
              <a:t>4.6%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F87F11-97CD-3646-B9CB-70FE268251EE}"/>
              </a:ext>
            </a:extLst>
          </p:cNvPr>
          <p:cNvSpPr txBox="1"/>
          <p:nvPr/>
        </p:nvSpPr>
        <p:spPr>
          <a:xfrm>
            <a:off x="5461000" y="29337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Gem. 2.0 Flash Think.</a:t>
            </a:r>
            <a:endParaRPr lang="en-CN" sz="1000">
              <a:solidFill>
                <a:srgbClr val="44444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3AF77532-65E8-774B-990C-FF0EE45D3CCA}"/>
              </a:ext>
            </a:extLst>
          </p:cNvPr>
          <p:cNvSpPr/>
          <p:nvPr/>
        </p:nvSpPr>
        <p:spPr>
          <a:xfrm>
            <a:off x="7429500" y="2971800"/>
            <a:ext cx="1562100" cy="228600"/>
          </a:xfrm>
          <a:prstGeom prst="roundRect">
            <a:avLst/>
          </a:prstGeom>
          <a:solidFill>
            <a:srgbClr val="7BA7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ADB502-3C71-D946-8489-DC90D8C8D145}"/>
              </a:ext>
            </a:extLst>
          </p:cNvPr>
          <p:cNvSpPr txBox="1"/>
          <p:nvPr/>
        </p:nvSpPr>
        <p:spPr>
          <a:xfrm>
            <a:off x="9055100" y="29337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000" b="1">
                <a:solidFill>
                  <a:srgbClr val="7BA7CC"/>
                </a:solidFill>
                <a:latin typeface="Tahoma"/>
                <a:ea typeface="Tahoma"/>
                <a:cs typeface="Tahoma"/>
              </a:rPr>
              <a:t>6.6%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4A15A5-672B-3942-A378-C219E863B9A4}"/>
              </a:ext>
            </a:extLst>
          </p:cNvPr>
          <p:cNvSpPr txBox="1"/>
          <p:nvPr/>
        </p:nvSpPr>
        <p:spPr>
          <a:xfrm>
            <a:off x="5461000" y="33655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o1</a:t>
            </a:r>
            <a:endParaRPr lang="en-CN" sz="1000">
              <a:solidFill>
                <a:srgbClr val="44444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8B326C03-2352-9945-8E31-7A2922D12788}"/>
              </a:ext>
            </a:extLst>
          </p:cNvPr>
          <p:cNvSpPr/>
          <p:nvPr/>
        </p:nvSpPr>
        <p:spPr>
          <a:xfrm>
            <a:off x="7429500" y="3403600"/>
            <a:ext cx="1892300" cy="228600"/>
          </a:xfrm>
          <a:prstGeom prst="roundRect">
            <a:avLst/>
          </a:prstGeom>
          <a:solidFill>
            <a:srgbClr val="7BA7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DD7C62-90E6-C347-824B-91B65F7099BD}"/>
              </a:ext>
            </a:extLst>
          </p:cNvPr>
          <p:cNvSpPr txBox="1"/>
          <p:nvPr/>
        </p:nvSpPr>
        <p:spPr>
          <a:xfrm>
            <a:off x="9385300" y="33655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000" b="1">
                <a:solidFill>
                  <a:srgbClr val="7BA7CC"/>
                </a:solidFill>
                <a:latin typeface="Tahoma"/>
                <a:ea typeface="Tahoma"/>
                <a:cs typeface="Tahoma"/>
              </a:rPr>
              <a:t>8%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DF6B8C-1CE8-C94E-B8E8-9B40C44F8FDC}"/>
              </a:ext>
            </a:extLst>
          </p:cNvPr>
          <p:cNvSpPr txBox="1"/>
          <p:nvPr/>
        </p:nvSpPr>
        <p:spPr>
          <a:xfrm>
            <a:off x="5461000" y="37973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DeepSeek-R1</a:t>
            </a:r>
            <a:endParaRPr lang="en-CN" sz="1000">
              <a:solidFill>
                <a:srgbClr val="44444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36B1F269-EAB2-8D43-8607-0050AF47BADE}"/>
              </a:ext>
            </a:extLst>
          </p:cNvPr>
          <p:cNvSpPr/>
          <p:nvPr/>
        </p:nvSpPr>
        <p:spPr>
          <a:xfrm>
            <a:off x="7429500" y="3835400"/>
            <a:ext cx="2006600" cy="228600"/>
          </a:xfrm>
          <a:prstGeom prst="roundRect">
            <a:avLst/>
          </a:prstGeom>
          <a:solidFill>
            <a:srgbClr val="7BA7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20460A-BEBA-A348-AABF-4FA6D105002F}"/>
              </a:ext>
            </a:extLst>
          </p:cNvPr>
          <p:cNvSpPr txBox="1"/>
          <p:nvPr/>
        </p:nvSpPr>
        <p:spPr>
          <a:xfrm>
            <a:off x="9499600" y="37973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000" b="1">
                <a:solidFill>
                  <a:srgbClr val="7BA7CC"/>
                </a:solidFill>
                <a:latin typeface="Tahoma"/>
                <a:ea typeface="Tahoma"/>
                <a:cs typeface="Tahoma"/>
              </a:rPr>
              <a:t>8.5%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1F7A66-C522-8746-9FA5-766A7EECA29A}"/>
              </a:ext>
            </a:extLst>
          </p:cNvPr>
          <p:cNvSpPr txBox="1"/>
          <p:nvPr/>
        </p:nvSpPr>
        <p:spPr>
          <a:xfrm>
            <a:off x="5461000" y="42291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o3-mini (high)</a:t>
            </a:r>
            <a:endParaRPr lang="en-CN" sz="1000">
              <a:solidFill>
                <a:srgbClr val="44444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623735DA-36D3-5C4D-AE73-792E00C5D410}"/>
              </a:ext>
            </a:extLst>
          </p:cNvPr>
          <p:cNvSpPr/>
          <p:nvPr/>
        </p:nvSpPr>
        <p:spPr>
          <a:xfrm>
            <a:off x="7429500" y="4267200"/>
            <a:ext cx="3175000" cy="228600"/>
          </a:xfrm>
          <a:prstGeom prst="roundRect">
            <a:avLst/>
          </a:prstGeom>
          <a:solidFill>
            <a:srgbClr val="1B5E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AA8694-23CD-AF49-94CB-05F1295DD665}"/>
              </a:ext>
            </a:extLst>
          </p:cNvPr>
          <p:cNvSpPr txBox="1"/>
          <p:nvPr/>
        </p:nvSpPr>
        <p:spPr>
          <a:xfrm>
            <a:off x="10668000" y="42291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CN" sz="1000" b="1">
                <a:solidFill>
                  <a:srgbClr val="1B5E9E"/>
                </a:solidFill>
                <a:latin typeface="Tahoma"/>
                <a:ea typeface="Tahoma"/>
                <a:cs typeface="Tahoma"/>
              </a:rPr>
              <a:t>13.4%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1186626B-3B2C-F64E-AF37-4022432A1A22}"/>
              </a:ext>
            </a:extLst>
          </p:cNvPr>
          <p:cNvSpPr/>
          <p:nvPr/>
        </p:nvSpPr>
        <p:spPr>
          <a:xfrm>
            <a:off x="5461000" y="4851400"/>
            <a:ext cx="6223000" cy="1270000"/>
          </a:xfrm>
          <a:prstGeom prst="roundRect">
            <a:avLst/>
          </a:prstGeom>
          <a:solidFill>
            <a:srgbClr val="FFF8E1"/>
          </a:solidFill>
          <a:ln w="19050" cap="flat" cmpd="sng" algn="ctr">
            <a:solidFill>
              <a:srgbClr val="FFB3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D23319-77F2-734D-8D1B-E0E8882CB1A3}"/>
              </a:ext>
            </a:extLst>
          </p:cNvPr>
          <p:cNvSpPr txBox="1"/>
          <p:nvPr/>
        </p:nvSpPr>
        <p:spPr>
          <a:xfrm>
            <a:off x="5588000" y="4914900"/>
            <a:ext cx="5969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Key Takeaway
• Even the best model (o3-mini) scores only 13.4%
• All models show high calibration error (73-89%), indicating hallucination
• Significant gap remains between LLM capabilities and expert human knowledge</a:t>
            </a:r>
            <a:endParaRPr lang="en-CN" sz="1100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E96CC5-3149-9546-A014-C59B9C311A46}"/>
              </a:ext>
            </a:extLst>
          </p:cNvPr>
          <p:cNvSpPr txBox="1"/>
          <p:nvPr/>
        </p:nvSpPr>
        <p:spPr>
          <a:xfrm>
            <a:off x="381000" y="6413500"/>
            <a:ext cx="1143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i="1">
                <a:solidFill>
                  <a:srgbClr val="888888"/>
                </a:solidFill>
                <a:latin typeface="Tahoma"/>
                <a:ea typeface="Tahoma"/>
                <a:cs typeface="Tahoma"/>
              </a:rPr>
              <a:t>*Not multi-modal; text-only subset. Cal. Err. = RMS calibration error (lower is better). Source: Phan et al. (2025)</a:t>
            </a:r>
            <a:endParaRPr lang="en-CN" sz="1000" i="1">
              <a:solidFill>
                <a:srgbClr val="888888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468489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6902EB-DB4C-B245-7DCF-BDE089015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atin typeface="Tahoma"/>
                <a:ea typeface="Tahoma"/>
                <a:cs typeface="Tahoma"/>
              </a:rPr>
              <a:t>Category-wise Performance Breakdown</a:t>
            </a:r>
            <a:endParaRPr lang="en-CN" sz="3200">
              <a:latin typeface="Tahoma"/>
              <a:ea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600A11-79BB-E54C-8C46-1DFD4E3A6D7B}"/>
              </a:ext>
            </a:extLst>
          </p:cNvPr>
          <p:cNvSpPr txBox="1"/>
          <p:nvPr/>
        </p:nvSpPr>
        <p:spPr>
          <a:xfrm>
            <a:off x="457200" y="698500"/>
            <a:ext cx="11277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55555"/>
                </a:solidFill>
                <a:latin typeface="Tahoma"/>
                <a:ea typeface="Tahoma"/>
                <a:cs typeface="Tahoma"/>
              </a:rPr>
              <a:t>Accuracy (%) on full dataset by subject category — Table 3 from paper</a:t>
            </a:r>
            <a:endParaRPr lang="en-CN" sz="1400" i="1">
              <a:solidFill>
                <a:srgbClr val="55555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E73F65-5002-614E-8EDB-B3C3292E8D41}"/>
              </a:ext>
            </a:extLst>
          </p:cNvPr>
          <p:cNvSpPr/>
          <p:nvPr/>
        </p:nvSpPr>
        <p:spPr>
          <a:xfrm>
            <a:off x="381000" y="1079500"/>
            <a:ext cx="7048500" cy="406400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86535F-38E6-6B49-B502-AB506513FEBA}"/>
              </a:ext>
            </a:extLst>
          </p:cNvPr>
          <p:cNvSpPr txBox="1"/>
          <p:nvPr/>
        </p:nvSpPr>
        <p:spPr>
          <a:xfrm>
            <a:off x="406400" y="1079500"/>
            <a:ext cx="1473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Model</a:t>
            </a:r>
            <a:endParaRPr lang="en-CN" sz="1000" b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3A0323-3B23-1247-943C-C029FD7BE1F1}"/>
              </a:ext>
            </a:extLst>
          </p:cNvPr>
          <p:cNvSpPr txBox="1"/>
          <p:nvPr/>
        </p:nvSpPr>
        <p:spPr>
          <a:xfrm>
            <a:off x="1930400" y="10795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Math</a:t>
            </a:r>
            <a:endParaRPr lang="en-CN" sz="1000" b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9CB535-3F28-0F4F-AEB7-2CFBD3BFDFEC}"/>
              </a:ext>
            </a:extLst>
          </p:cNvPr>
          <p:cNvSpPr txBox="1"/>
          <p:nvPr/>
        </p:nvSpPr>
        <p:spPr>
          <a:xfrm>
            <a:off x="2628900" y="1079500"/>
            <a:ext cx="711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Bio/Med</a:t>
            </a:r>
            <a:endParaRPr lang="en-CN" sz="1000" b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7564C9-547D-DD4A-BC25-18451467C55E}"/>
              </a:ext>
            </a:extLst>
          </p:cNvPr>
          <p:cNvSpPr txBox="1"/>
          <p:nvPr/>
        </p:nvSpPr>
        <p:spPr>
          <a:xfrm>
            <a:off x="3390900" y="10795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Physics</a:t>
            </a:r>
            <a:endParaRPr lang="en-CN" sz="1000" b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CD7E5B-636F-724B-BAE2-E7270EAB0B14}"/>
              </a:ext>
            </a:extLst>
          </p:cNvPr>
          <p:cNvSpPr txBox="1"/>
          <p:nvPr/>
        </p:nvSpPr>
        <p:spPr>
          <a:xfrm>
            <a:off x="4089400" y="10795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CS/AI</a:t>
            </a:r>
            <a:endParaRPr lang="en-CN" sz="1000" b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5F5E2A-230A-1E44-B066-A7B97CB844DD}"/>
              </a:ext>
            </a:extLst>
          </p:cNvPr>
          <p:cNvSpPr txBox="1"/>
          <p:nvPr/>
        </p:nvSpPr>
        <p:spPr>
          <a:xfrm>
            <a:off x="4787900" y="10795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Human.</a:t>
            </a:r>
            <a:endParaRPr lang="en-CN" sz="1000" b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259B77-509D-9F43-AB36-DB2298563E38}"/>
              </a:ext>
            </a:extLst>
          </p:cNvPr>
          <p:cNvSpPr txBox="1"/>
          <p:nvPr/>
        </p:nvSpPr>
        <p:spPr>
          <a:xfrm>
            <a:off x="5486400" y="10795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Chem.</a:t>
            </a:r>
            <a:endParaRPr lang="en-CN" sz="1000" b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122A7C-E59D-1B45-84FB-4BB5AD3B8F37}"/>
              </a:ext>
            </a:extLst>
          </p:cNvPr>
          <p:cNvSpPr txBox="1"/>
          <p:nvPr/>
        </p:nvSpPr>
        <p:spPr>
          <a:xfrm>
            <a:off x="6184900" y="1079500"/>
            <a:ext cx="584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Eng.</a:t>
            </a:r>
            <a:endParaRPr lang="en-CN" sz="1000" b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8519F4-5F20-6B45-9B74-53102F21C83D}"/>
              </a:ext>
            </a:extLst>
          </p:cNvPr>
          <p:cNvSpPr txBox="1"/>
          <p:nvPr/>
        </p:nvSpPr>
        <p:spPr>
          <a:xfrm>
            <a:off x="6819900" y="1079500"/>
            <a:ext cx="584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Other</a:t>
            </a:r>
            <a:endParaRPr lang="en-CN" sz="1000" b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A71E69-39A5-7342-853A-7254D68E424F}"/>
              </a:ext>
            </a:extLst>
          </p:cNvPr>
          <p:cNvSpPr txBox="1"/>
          <p:nvPr/>
        </p:nvSpPr>
        <p:spPr>
          <a:xfrm>
            <a:off x="406400" y="1485900"/>
            <a:ext cx="1473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333333"/>
                </a:solidFill>
                <a:latin typeface="Tahoma"/>
                <a:ea typeface="Tahoma"/>
                <a:cs typeface="Tahoma"/>
              </a:rPr>
              <a:t>GPT-4o</a:t>
            </a:r>
            <a:endParaRPr lang="en-CN" sz="1000" b="1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2A15E-B05C-D544-9A0D-BF62213B616D}"/>
              </a:ext>
            </a:extLst>
          </p:cNvPr>
          <p:cNvSpPr txBox="1"/>
          <p:nvPr/>
        </p:nvSpPr>
        <p:spPr>
          <a:xfrm>
            <a:off x="1930400" y="14859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2.3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2A8840-232E-474A-BF89-FCA80C88A16A}"/>
              </a:ext>
            </a:extLst>
          </p:cNvPr>
          <p:cNvSpPr txBox="1"/>
          <p:nvPr/>
        </p:nvSpPr>
        <p:spPr>
          <a:xfrm>
            <a:off x="2628900" y="1485900"/>
            <a:ext cx="711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6.4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978325-6AB7-0447-B4E3-253BCE85EBB5}"/>
              </a:ext>
            </a:extLst>
          </p:cNvPr>
          <p:cNvSpPr txBox="1"/>
          <p:nvPr/>
        </p:nvSpPr>
        <p:spPr>
          <a:xfrm>
            <a:off x="3390900" y="14859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1.7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698599-4FC2-5543-9C1B-AB9D07C9E3AC}"/>
              </a:ext>
            </a:extLst>
          </p:cNvPr>
          <p:cNvSpPr txBox="1"/>
          <p:nvPr/>
        </p:nvSpPr>
        <p:spPr>
          <a:xfrm>
            <a:off x="4089400" y="14859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0.8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452F61-D82B-6D4C-AECE-6786894A567C}"/>
              </a:ext>
            </a:extLst>
          </p:cNvPr>
          <p:cNvSpPr txBox="1"/>
          <p:nvPr/>
        </p:nvSpPr>
        <p:spPr>
          <a:xfrm>
            <a:off x="4787900" y="14859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3.2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411FE0-0169-BE4B-9FDE-D9240271BB90}"/>
              </a:ext>
            </a:extLst>
          </p:cNvPr>
          <p:cNvSpPr txBox="1"/>
          <p:nvPr/>
        </p:nvSpPr>
        <p:spPr>
          <a:xfrm>
            <a:off x="5486400" y="14859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3.6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F0EED2-1495-0A4E-8C37-E682B16A5512}"/>
              </a:ext>
            </a:extLst>
          </p:cNvPr>
          <p:cNvSpPr txBox="1"/>
          <p:nvPr/>
        </p:nvSpPr>
        <p:spPr>
          <a:xfrm>
            <a:off x="6184900" y="1485900"/>
            <a:ext cx="584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1.8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FA70C4-D467-2B4C-93CB-63E3B0D864DA}"/>
              </a:ext>
            </a:extLst>
          </p:cNvPr>
          <p:cNvSpPr txBox="1"/>
          <p:nvPr/>
        </p:nvSpPr>
        <p:spPr>
          <a:xfrm>
            <a:off x="6819900" y="1485900"/>
            <a:ext cx="584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2.6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5EF397-1041-1341-ABB4-43AAE43771DC}"/>
              </a:ext>
            </a:extLst>
          </p:cNvPr>
          <p:cNvSpPr/>
          <p:nvPr/>
        </p:nvSpPr>
        <p:spPr>
          <a:xfrm>
            <a:off x="381000" y="1892300"/>
            <a:ext cx="7048500" cy="4064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0D2224-9765-2B4C-AF84-31C798BEBB5F}"/>
              </a:ext>
            </a:extLst>
          </p:cNvPr>
          <p:cNvSpPr txBox="1"/>
          <p:nvPr/>
        </p:nvSpPr>
        <p:spPr>
          <a:xfrm>
            <a:off x="406400" y="1892300"/>
            <a:ext cx="1473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333333"/>
                </a:solidFill>
                <a:latin typeface="Tahoma"/>
                <a:ea typeface="Tahoma"/>
                <a:cs typeface="Tahoma"/>
              </a:rPr>
              <a:t>Grok 2</a:t>
            </a:r>
            <a:endParaRPr lang="en-CN" sz="1000" b="1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4F85CA-5568-A64C-AB80-BA1A14FB379A}"/>
              </a:ext>
            </a:extLst>
          </p:cNvPr>
          <p:cNvSpPr txBox="1"/>
          <p:nvPr/>
        </p:nvSpPr>
        <p:spPr>
          <a:xfrm>
            <a:off x="1930400" y="18923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3.0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F4D512-4690-6B4D-8200-5D3935731816}"/>
              </a:ext>
            </a:extLst>
          </p:cNvPr>
          <p:cNvSpPr txBox="1"/>
          <p:nvPr/>
        </p:nvSpPr>
        <p:spPr>
          <a:xfrm>
            <a:off x="2628900" y="1892300"/>
            <a:ext cx="711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4.6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CC39FC-8BEB-1E44-AEB5-768413336437}"/>
              </a:ext>
            </a:extLst>
          </p:cNvPr>
          <p:cNvSpPr txBox="1"/>
          <p:nvPr/>
        </p:nvSpPr>
        <p:spPr>
          <a:xfrm>
            <a:off x="3390900" y="18923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3.9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B2FC9D-029F-BF4E-B0F9-005599A4D0B6}"/>
              </a:ext>
            </a:extLst>
          </p:cNvPr>
          <p:cNvSpPr txBox="1"/>
          <p:nvPr/>
        </p:nvSpPr>
        <p:spPr>
          <a:xfrm>
            <a:off x="4089400" y="18923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3.3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97FE67-7000-DA4D-966C-B32D012D18A7}"/>
              </a:ext>
            </a:extLst>
          </p:cNvPr>
          <p:cNvSpPr txBox="1"/>
          <p:nvPr/>
        </p:nvSpPr>
        <p:spPr>
          <a:xfrm>
            <a:off x="4787900" y="18923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1.4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BDC9C7-1DB2-AD42-8241-B7C1159674F5}"/>
              </a:ext>
            </a:extLst>
          </p:cNvPr>
          <p:cNvSpPr txBox="1"/>
          <p:nvPr/>
        </p:nvSpPr>
        <p:spPr>
          <a:xfrm>
            <a:off x="5486400" y="18923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2.4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D060D8-D7AC-C942-86A4-12B7D5739541}"/>
              </a:ext>
            </a:extLst>
          </p:cNvPr>
          <p:cNvSpPr txBox="1"/>
          <p:nvPr/>
        </p:nvSpPr>
        <p:spPr>
          <a:xfrm>
            <a:off x="6184900" y="1892300"/>
            <a:ext cx="584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3.6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C70DA5-CE40-C44D-A064-A6976443DBF6}"/>
              </a:ext>
            </a:extLst>
          </p:cNvPr>
          <p:cNvSpPr txBox="1"/>
          <p:nvPr/>
        </p:nvSpPr>
        <p:spPr>
          <a:xfrm>
            <a:off x="6819900" y="1892300"/>
            <a:ext cx="584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1.7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934756-9BA8-EE47-9E88-9C7179950F53}"/>
              </a:ext>
            </a:extLst>
          </p:cNvPr>
          <p:cNvSpPr txBox="1"/>
          <p:nvPr/>
        </p:nvSpPr>
        <p:spPr>
          <a:xfrm>
            <a:off x="406400" y="2298700"/>
            <a:ext cx="1473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333333"/>
                </a:solidFill>
                <a:latin typeface="Tahoma"/>
                <a:ea typeface="Tahoma"/>
                <a:cs typeface="Tahoma"/>
              </a:rPr>
              <a:t>Claude 3.5</a:t>
            </a:r>
            <a:endParaRPr lang="en-CN" sz="1000" b="1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28C573-114C-4F48-9439-31D735BB4EA6}"/>
              </a:ext>
            </a:extLst>
          </p:cNvPr>
          <p:cNvSpPr txBox="1"/>
          <p:nvPr/>
        </p:nvSpPr>
        <p:spPr>
          <a:xfrm>
            <a:off x="1930400" y="22987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4.0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271DA7-B33C-CA47-AF06-BBAD350D3A12}"/>
              </a:ext>
            </a:extLst>
          </p:cNvPr>
          <p:cNvSpPr txBox="1"/>
          <p:nvPr/>
        </p:nvSpPr>
        <p:spPr>
          <a:xfrm>
            <a:off x="2628900" y="2298700"/>
            <a:ext cx="711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4.6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F4EA64-7130-BF4D-9A29-8636A71A6FA9}"/>
              </a:ext>
            </a:extLst>
          </p:cNvPr>
          <p:cNvSpPr txBox="1"/>
          <p:nvPr/>
        </p:nvSpPr>
        <p:spPr>
          <a:xfrm>
            <a:off x="3390900" y="22987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3.9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33685F-5CB0-514C-87E4-19E8C55A4857}"/>
              </a:ext>
            </a:extLst>
          </p:cNvPr>
          <p:cNvSpPr txBox="1"/>
          <p:nvPr/>
        </p:nvSpPr>
        <p:spPr>
          <a:xfrm>
            <a:off x="4089400" y="22987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2.5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E9144B-B04D-314D-B0BF-4B53AED01F61}"/>
              </a:ext>
            </a:extLst>
          </p:cNvPr>
          <p:cNvSpPr txBox="1"/>
          <p:nvPr/>
        </p:nvSpPr>
        <p:spPr>
          <a:xfrm>
            <a:off x="4787900" y="22987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5.9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C71452-1AFB-D74D-AC58-9CE53A1FB3D4}"/>
              </a:ext>
            </a:extLst>
          </p:cNvPr>
          <p:cNvSpPr txBox="1"/>
          <p:nvPr/>
        </p:nvSpPr>
        <p:spPr>
          <a:xfrm>
            <a:off x="5486400" y="22987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4.2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0468FD-B3BB-9341-B1B4-C666C7EBA536}"/>
              </a:ext>
            </a:extLst>
          </p:cNvPr>
          <p:cNvSpPr txBox="1"/>
          <p:nvPr/>
        </p:nvSpPr>
        <p:spPr>
          <a:xfrm>
            <a:off x="6184900" y="2298700"/>
            <a:ext cx="584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7.2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1825A7-579E-A04A-AE91-C3802E4F1791}"/>
              </a:ext>
            </a:extLst>
          </p:cNvPr>
          <p:cNvSpPr txBox="1"/>
          <p:nvPr/>
        </p:nvSpPr>
        <p:spPr>
          <a:xfrm>
            <a:off x="6819900" y="2298700"/>
            <a:ext cx="584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2.2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FD7814-77A4-1945-91D5-1C95558CFEE8}"/>
              </a:ext>
            </a:extLst>
          </p:cNvPr>
          <p:cNvSpPr/>
          <p:nvPr/>
        </p:nvSpPr>
        <p:spPr>
          <a:xfrm>
            <a:off x="381000" y="2705100"/>
            <a:ext cx="7048500" cy="4064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B5CD3B-7453-6349-9EFA-B5BE615C892A}"/>
              </a:ext>
            </a:extLst>
          </p:cNvPr>
          <p:cNvSpPr txBox="1"/>
          <p:nvPr/>
        </p:nvSpPr>
        <p:spPr>
          <a:xfrm>
            <a:off x="406400" y="2705100"/>
            <a:ext cx="1473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333333"/>
                </a:solidFill>
                <a:latin typeface="Tahoma"/>
                <a:ea typeface="Tahoma"/>
                <a:cs typeface="Tahoma"/>
              </a:rPr>
              <a:t>Gemini 1.5 Pro</a:t>
            </a:r>
            <a:endParaRPr lang="en-CN" sz="1000" b="1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C54C6A-92B4-0E42-9EF9-E25DA9132428}"/>
              </a:ext>
            </a:extLst>
          </p:cNvPr>
          <p:cNvSpPr txBox="1"/>
          <p:nvPr/>
        </p:nvSpPr>
        <p:spPr>
          <a:xfrm>
            <a:off x="1930400" y="27051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5.2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E36948-EF32-0647-AA23-56632F96674A}"/>
              </a:ext>
            </a:extLst>
          </p:cNvPr>
          <p:cNvSpPr txBox="1"/>
          <p:nvPr/>
        </p:nvSpPr>
        <p:spPr>
          <a:xfrm>
            <a:off x="2628900" y="2705100"/>
            <a:ext cx="711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5.4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B35DD5-6FC6-AB41-8DBD-43991CD86B73}"/>
              </a:ext>
            </a:extLst>
          </p:cNvPr>
          <p:cNvSpPr txBox="1"/>
          <p:nvPr/>
        </p:nvSpPr>
        <p:spPr>
          <a:xfrm>
            <a:off x="3390900" y="27051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3.0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0201EC-0085-BA4E-834C-73FFD9ABDE2E}"/>
              </a:ext>
            </a:extLst>
          </p:cNvPr>
          <p:cNvSpPr txBox="1"/>
          <p:nvPr/>
        </p:nvSpPr>
        <p:spPr>
          <a:xfrm>
            <a:off x="4089400" y="27051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3.7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522CFA-BE85-3243-BCAE-58C08AB1CCCD}"/>
              </a:ext>
            </a:extLst>
          </p:cNvPr>
          <p:cNvSpPr txBox="1"/>
          <p:nvPr/>
        </p:nvSpPr>
        <p:spPr>
          <a:xfrm>
            <a:off x="4787900" y="27051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4.1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D3FE4E-D7A5-B249-885E-3FE5F8408938}"/>
              </a:ext>
            </a:extLst>
          </p:cNvPr>
          <p:cNvSpPr txBox="1"/>
          <p:nvPr/>
        </p:nvSpPr>
        <p:spPr>
          <a:xfrm>
            <a:off x="5486400" y="27051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6.1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B62369-3C5C-9941-9E50-883494ACC880}"/>
              </a:ext>
            </a:extLst>
          </p:cNvPr>
          <p:cNvSpPr txBox="1"/>
          <p:nvPr/>
        </p:nvSpPr>
        <p:spPr>
          <a:xfrm>
            <a:off x="6184900" y="2705100"/>
            <a:ext cx="584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3.6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035065-D051-854D-AF2F-84D28E51DDC3}"/>
              </a:ext>
            </a:extLst>
          </p:cNvPr>
          <p:cNvSpPr txBox="1"/>
          <p:nvPr/>
        </p:nvSpPr>
        <p:spPr>
          <a:xfrm>
            <a:off x="6819900" y="2705100"/>
            <a:ext cx="584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3.4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5BE5B9-2C47-8B41-A13C-9AE78BE9F503}"/>
              </a:ext>
            </a:extLst>
          </p:cNvPr>
          <p:cNvSpPr txBox="1"/>
          <p:nvPr/>
        </p:nvSpPr>
        <p:spPr>
          <a:xfrm>
            <a:off x="406400" y="3111500"/>
            <a:ext cx="1473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333333"/>
                </a:solidFill>
                <a:latin typeface="Tahoma"/>
                <a:ea typeface="Tahoma"/>
                <a:cs typeface="Tahoma"/>
              </a:rPr>
              <a:t>Gem.2.0 FT</a:t>
            </a:r>
            <a:endParaRPr lang="en-CN" sz="1000" b="1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13AFBD-4AE8-B349-9157-F1127821AF48}"/>
              </a:ext>
            </a:extLst>
          </p:cNvPr>
          <p:cNvSpPr txBox="1"/>
          <p:nvPr/>
        </p:nvSpPr>
        <p:spPr>
          <a:xfrm>
            <a:off x="1930400" y="31115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 b="1">
                <a:solidFill>
                  <a:srgbClr val="1B5E9E"/>
                </a:solidFill>
                <a:latin typeface="Tahoma"/>
                <a:ea typeface="Tahoma"/>
                <a:cs typeface="Tahoma"/>
              </a:rPr>
              <a:t>8.0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02FF74-D980-A642-98C0-29E6520FEC88}"/>
              </a:ext>
            </a:extLst>
          </p:cNvPr>
          <p:cNvSpPr txBox="1"/>
          <p:nvPr/>
        </p:nvSpPr>
        <p:spPr>
          <a:xfrm>
            <a:off x="2628900" y="3111500"/>
            <a:ext cx="711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 b="1">
                <a:solidFill>
                  <a:srgbClr val="1B5E9E"/>
                </a:solidFill>
                <a:latin typeface="Tahoma"/>
                <a:ea typeface="Tahoma"/>
                <a:cs typeface="Tahoma"/>
              </a:rPr>
              <a:t>8.2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9525B6-0776-D548-AD7A-316428F2CE45}"/>
              </a:ext>
            </a:extLst>
          </p:cNvPr>
          <p:cNvSpPr txBox="1"/>
          <p:nvPr/>
        </p:nvSpPr>
        <p:spPr>
          <a:xfrm>
            <a:off x="3390900" y="31115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4.8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D90DC3-C520-9247-BEE6-2F08E0B5CBCF}"/>
              </a:ext>
            </a:extLst>
          </p:cNvPr>
          <p:cNvSpPr txBox="1"/>
          <p:nvPr/>
        </p:nvSpPr>
        <p:spPr>
          <a:xfrm>
            <a:off x="4089400" y="31115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4.5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BA4696-6E58-674F-A89D-450DA41E4882}"/>
              </a:ext>
            </a:extLst>
          </p:cNvPr>
          <p:cNvSpPr txBox="1"/>
          <p:nvPr/>
        </p:nvSpPr>
        <p:spPr>
          <a:xfrm>
            <a:off x="4787900" y="31115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6.4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F9B045-7371-F34D-ACB7-5653C5BE1572}"/>
              </a:ext>
            </a:extLst>
          </p:cNvPr>
          <p:cNvSpPr txBox="1"/>
          <p:nvPr/>
        </p:nvSpPr>
        <p:spPr>
          <a:xfrm>
            <a:off x="5486400" y="31115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5.5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AEEAE6-9198-314E-B104-BF7E29A697BC}"/>
              </a:ext>
            </a:extLst>
          </p:cNvPr>
          <p:cNvSpPr txBox="1"/>
          <p:nvPr/>
        </p:nvSpPr>
        <p:spPr>
          <a:xfrm>
            <a:off x="6184900" y="3111500"/>
            <a:ext cx="584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6.3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661576-546A-444A-B38A-7CF2AB7DD5C3}"/>
              </a:ext>
            </a:extLst>
          </p:cNvPr>
          <p:cNvSpPr txBox="1"/>
          <p:nvPr/>
        </p:nvSpPr>
        <p:spPr>
          <a:xfrm>
            <a:off x="6819900" y="3111500"/>
            <a:ext cx="584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3.0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5101979-A4BC-8746-8177-CF0626A0F0F4}"/>
              </a:ext>
            </a:extLst>
          </p:cNvPr>
          <p:cNvSpPr/>
          <p:nvPr/>
        </p:nvSpPr>
        <p:spPr>
          <a:xfrm>
            <a:off x="381000" y="3517900"/>
            <a:ext cx="7048500" cy="406400"/>
          </a:xfrm>
          <a:prstGeom prst="rect">
            <a:avLst/>
          </a:prstGeom>
          <a:solidFill>
            <a:srgbClr val="F0F4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1EC9A8D-4399-784D-9099-C1762A8EA5E0}"/>
              </a:ext>
            </a:extLst>
          </p:cNvPr>
          <p:cNvSpPr txBox="1"/>
          <p:nvPr/>
        </p:nvSpPr>
        <p:spPr>
          <a:xfrm>
            <a:off x="406400" y="3517900"/>
            <a:ext cx="1473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333333"/>
                </a:solidFill>
                <a:latin typeface="Tahoma"/>
                <a:ea typeface="Tahoma"/>
                <a:cs typeface="Tahoma"/>
              </a:rPr>
              <a:t>o1</a:t>
            </a:r>
            <a:endParaRPr lang="en-CN" sz="1000" b="1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2DBBFE-68F4-AC4B-A38A-F0B4448C9E38}"/>
              </a:ext>
            </a:extLst>
          </p:cNvPr>
          <p:cNvSpPr txBox="1"/>
          <p:nvPr/>
        </p:nvSpPr>
        <p:spPr>
          <a:xfrm>
            <a:off x="1930400" y="35179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7.4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A3D2139-07EE-6F46-8FAB-B47DF41D453E}"/>
              </a:ext>
            </a:extLst>
          </p:cNvPr>
          <p:cNvSpPr txBox="1"/>
          <p:nvPr/>
        </p:nvSpPr>
        <p:spPr>
          <a:xfrm>
            <a:off x="2628900" y="3517900"/>
            <a:ext cx="711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 b="1">
                <a:solidFill>
                  <a:srgbClr val="1B5E9E"/>
                </a:solidFill>
                <a:latin typeface="Tahoma"/>
                <a:ea typeface="Tahoma"/>
                <a:cs typeface="Tahoma"/>
              </a:rPr>
              <a:t>10.4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956F07-BC10-BC4D-9884-D495236726DF}"/>
              </a:ext>
            </a:extLst>
          </p:cNvPr>
          <p:cNvSpPr txBox="1"/>
          <p:nvPr/>
        </p:nvSpPr>
        <p:spPr>
          <a:xfrm>
            <a:off x="3390900" y="35179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7.0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3CF4C9C-CB7A-AE49-9AC7-0949ED73D31B}"/>
              </a:ext>
            </a:extLst>
          </p:cNvPr>
          <p:cNvSpPr txBox="1"/>
          <p:nvPr/>
        </p:nvSpPr>
        <p:spPr>
          <a:xfrm>
            <a:off x="4089400" y="35179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 b="1">
                <a:solidFill>
                  <a:srgbClr val="1B5E9E"/>
                </a:solidFill>
                <a:latin typeface="Tahoma"/>
                <a:ea typeface="Tahoma"/>
                <a:cs typeface="Tahoma"/>
              </a:rPr>
              <a:t>8.2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55E5DD-CEF9-2741-A119-DEE0B4EEF176}"/>
              </a:ext>
            </a:extLst>
          </p:cNvPr>
          <p:cNvSpPr txBox="1"/>
          <p:nvPr/>
        </p:nvSpPr>
        <p:spPr>
          <a:xfrm>
            <a:off x="4787900" y="35179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 b="1">
                <a:solidFill>
                  <a:srgbClr val="1B5E9E"/>
                </a:solidFill>
                <a:latin typeface="Tahoma"/>
                <a:ea typeface="Tahoma"/>
                <a:cs typeface="Tahoma"/>
              </a:rPr>
              <a:t>8.7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B5FBA89-03AE-974F-B989-6DD719FA2314}"/>
              </a:ext>
            </a:extLst>
          </p:cNvPr>
          <p:cNvSpPr txBox="1"/>
          <p:nvPr/>
        </p:nvSpPr>
        <p:spPr>
          <a:xfrm>
            <a:off x="5486400" y="3517900"/>
            <a:ext cx="6477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 b="1">
                <a:solidFill>
                  <a:srgbClr val="1B5E9E"/>
                </a:solidFill>
                <a:latin typeface="Tahoma"/>
                <a:ea typeface="Tahoma"/>
                <a:cs typeface="Tahoma"/>
              </a:rPr>
              <a:t>9.7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10E2D2-D13B-2849-BDEE-705CEDC3B06F}"/>
              </a:ext>
            </a:extLst>
          </p:cNvPr>
          <p:cNvSpPr txBox="1"/>
          <p:nvPr/>
        </p:nvSpPr>
        <p:spPr>
          <a:xfrm>
            <a:off x="6184900" y="3517900"/>
            <a:ext cx="584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6.3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3CF311A-57AD-3A40-A8DE-8B343141F61B}"/>
              </a:ext>
            </a:extLst>
          </p:cNvPr>
          <p:cNvSpPr txBox="1"/>
          <p:nvPr/>
        </p:nvSpPr>
        <p:spPr>
          <a:xfrm>
            <a:off x="6819900" y="3517900"/>
            <a:ext cx="584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CN" sz="10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7.3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16EA15B-F0F3-FE49-A497-C1716FC332B1}"/>
              </a:ext>
            </a:extLst>
          </p:cNvPr>
          <p:cNvSpPr/>
          <p:nvPr/>
        </p:nvSpPr>
        <p:spPr>
          <a:xfrm>
            <a:off x="381000" y="1079500"/>
            <a:ext cx="7048500" cy="2844800"/>
          </a:xfrm>
          <a:prstGeom prst="rect">
            <a:avLst/>
          </a:prstGeom>
          <a:noFill/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3ED40D9-4459-2949-98B0-25E67AE33A25}"/>
              </a:ext>
            </a:extLst>
          </p:cNvPr>
          <p:cNvSpPr txBox="1"/>
          <p:nvPr/>
        </p:nvSpPr>
        <p:spPr>
          <a:xfrm>
            <a:off x="533400" y="41910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Strongest Categories</a:t>
            </a:r>
            <a:endParaRPr lang="en-CN" sz="1400" b="1">
              <a:solidFill>
                <a:srgbClr val="0E419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9E68F4B-6915-6F4E-876B-8CBE880C6879}"/>
              </a:ext>
            </a:extLst>
          </p:cNvPr>
          <p:cNvSpPr txBox="1"/>
          <p:nvPr/>
        </p:nvSpPr>
        <p:spPr>
          <a:xfrm>
            <a:off x="533400" y="4495800"/>
            <a:ext cx="3556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• Bio/Medicine: o1 achieves 10.4%
• Humanities: DeepSeek-R1 reaches 10.4% (text-only)
• Chemistry: o1 hits 9.7%</a:t>
            </a:r>
            <a:endParaRPr lang="en-CN" sz="1200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DA9654F-E2A4-7848-9793-4FA8F8C6A98E}"/>
              </a:ext>
            </a:extLst>
          </p:cNvPr>
          <p:cNvSpPr txBox="1"/>
          <p:nvPr/>
        </p:nvSpPr>
        <p:spPr>
          <a:xfrm>
            <a:off x="4318000" y="41910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Weakest Categories</a:t>
            </a:r>
            <a:endParaRPr lang="en-CN" sz="1400" b="1">
              <a:solidFill>
                <a:srgbClr val="0E419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D84C2BA-4D93-A04E-BAE7-B61026C9A26D}"/>
              </a:ext>
            </a:extLst>
          </p:cNvPr>
          <p:cNvSpPr txBox="1"/>
          <p:nvPr/>
        </p:nvSpPr>
        <p:spPr>
          <a:xfrm>
            <a:off x="4318000" y="4495800"/>
            <a:ext cx="3556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• CS/AI: GPT-4o scores only 0.8%
• Physics: GPT-4o at 1.7%
• "Other" consistently lowest across all models</a:t>
            </a:r>
            <a:endParaRPr lang="en-CN" sz="1200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E24BEF3-7932-404D-91BC-281D2371901C}"/>
              </a:ext>
            </a:extLst>
          </p:cNvPr>
          <p:cNvSpPr txBox="1"/>
          <p:nvPr/>
        </p:nvSpPr>
        <p:spPr>
          <a:xfrm>
            <a:off x="8102600" y="41910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E419C"/>
                </a:solidFill>
                <a:latin typeface="Tahoma"/>
                <a:ea typeface="Tahoma"/>
                <a:cs typeface="Tahoma"/>
              </a:rPr>
              <a:t>Model Specialization</a:t>
            </a:r>
            <a:endParaRPr lang="en-CN" sz="1400" b="1">
              <a:solidFill>
                <a:srgbClr val="0E419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16658B2-AE94-F74F-81B2-D5679803F0B3}"/>
              </a:ext>
            </a:extLst>
          </p:cNvPr>
          <p:cNvSpPr txBox="1"/>
          <p:nvPr/>
        </p:nvSpPr>
        <p:spPr>
          <a:xfrm>
            <a:off x="8102600" y="4495800"/>
            <a:ext cx="3556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• o3-mini excels at Math (18.6% text-only)
• Reasoning models outperform non-reasoning
• No model dominates all categories</a:t>
            </a:r>
            <a:endParaRPr lang="en-CN" sz="1200">
              <a:solidFill>
                <a:srgbClr val="333333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5EA62B5-475D-1548-B785-7C74570BF73F}"/>
              </a:ext>
            </a:extLst>
          </p:cNvPr>
          <p:cNvSpPr txBox="1"/>
          <p:nvPr/>
        </p:nvSpPr>
        <p:spPr>
          <a:xfrm>
            <a:off x="381000" y="6413500"/>
            <a:ext cx="1143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i="1">
                <a:solidFill>
                  <a:srgbClr val="888888"/>
                </a:solidFill>
                <a:latin typeface="Tahoma"/>
                <a:ea typeface="Tahoma"/>
                <a:cs typeface="Tahoma"/>
              </a:rPr>
              <a:t>Full Dataset results shown. o3-mini and DeepSeek-R1 evaluated on text-only subset. Source: Phan et al. (2025) — lastexam.ai</a:t>
            </a:r>
            <a:endParaRPr lang="en-CN" sz="1000" i="1">
              <a:solidFill>
                <a:srgbClr val="88888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00E308B-8184-E444-A9B8-C5FAD99464F4}"/>
              </a:ext>
            </a:extLst>
          </p:cNvPr>
          <p:cNvSpPr/>
          <p:nvPr/>
        </p:nvSpPr>
        <p:spPr>
          <a:xfrm>
            <a:off x="533400" y="4470400"/>
            <a:ext cx="3556000" cy="12700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B429721-1135-2240-A495-AC5C5FD16833}"/>
              </a:ext>
            </a:extLst>
          </p:cNvPr>
          <p:cNvSpPr/>
          <p:nvPr/>
        </p:nvSpPr>
        <p:spPr>
          <a:xfrm>
            <a:off x="4318000" y="4470400"/>
            <a:ext cx="3556000" cy="12700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1163F7B-0ECC-9044-A936-9A61BD309D3C}"/>
              </a:ext>
            </a:extLst>
          </p:cNvPr>
          <p:cNvSpPr/>
          <p:nvPr/>
        </p:nvSpPr>
        <p:spPr>
          <a:xfrm>
            <a:off x="8102600" y="4470400"/>
            <a:ext cx="3556000" cy="12700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56218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ahoma">
      <a:majorFont>
        <a:latin typeface="Tahoma"/>
        <a:ea typeface="Tahoma"/>
        <a:cs typeface=""/>
      </a:majorFont>
      <a:minorFont>
        <a:latin typeface="Tahoma"/>
        <a:ea typeface="Tahom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C4D1B0-323E-1041-84B0-F51ED551021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331bc5f-4cb0-470c-b25f-381bc7c2daf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TM02892315[[fn=丝状]]</Template>
  <TotalTime>0</TotalTime>
  <Words>4696</Words>
  <Application>Microsoft Macintosh PowerPoint</Application>
  <PresentationFormat>Widescreen</PresentationFormat>
  <Paragraphs>528</Paragraphs>
  <Slides>48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等线</vt:lpstr>
      <vt:lpstr>Söhne</vt:lpstr>
      <vt:lpstr>Arial</vt:lpstr>
      <vt:lpstr>Roboto</vt:lpstr>
      <vt:lpstr>Tahoma</vt:lpstr>
      <vt:lpstr>Office 主题​​</vt:lpstr>
      <vt:lpstr>Lecture 07 – Benchmarks</vt:lpstr>
      <vt:lpstr>Outline</vt:lpstr>
      <vt:lpstr>GLUE https://gluebenchmark.com/ </vt:lpstr>
      <vt:lpstr>GLUE https://gluebenchmark.com/ </vt:lpstr>
      <vt:lpstr>GLUE 1. Single-sentence tasks</vt:lpstr>
      <vt:lpstr>GLUE 1. Single-sentence tasks</vt:lpstr>
      <vt:lpstr>GLUE 2. Similarity and Paraphrase Tasks</vt:lpstr>
      <vt:lpstr>GLUE 2. Similarity and Paraphrase Tasks</vt:lpstr>
      <vt:lpstr>GLUE 2. Similarity and Paraphrase Tasks</vt:lpstr>
      <vt:lpstr>GLUE 3. Inference Tasks</vt:lpstr>
      <vt:lpstr>GLUE 3. Inference Tasks</vt:lpstr>
      <vt:lpstr>GLUE 3. Inference Tasks</vt:lpstr>
      <vt:lpstr>GLUE 3. Inference Tasks</vt:lpstr>
      <vt:lpstr>GLUE benchmark performance</vt:lpstr>
      <vt:lpstr>SuperGLUE https://super.gluebenchmark.com/ </vt:lpstr>
      <vt:lpstr>SuperGLUE 1. BoolQ</vt:lpstr>
      <vt:lpstr>SuperGLUE 2. CB</vt:lpstr>
      <vt:lpstr>SuperGLUE 3. COPA</vt:lpstr>
      <vt:lpstr>SuperGLUE 4. MultiRC</vt:lpstr>
      <vt:lpstr>SuperGLUE 5. ReCoRD</vt:lpstr>
      <vt:lpstr>SuperGLUE 6. RTE</vt:lpstr>
      <vt:lpstr>SuperGLUE 7. WiC</vt:lpstr>
      <vt:lpstr>SuperGLUE 8. WSC</vt:lpstr>
      <vt:lpstr>Outline</vt:lpstr>
      <vt:lpstr>SWAG Situations With Adversarial Generations (SWAG)</vt:lpstr>
      <vt:lpstr>SWAG https://rowanzellers.com/swag/</vt:lpstr>
      <vt:lpstr>SWAG https://rowanzellers.com/swag/</vt:lpstr>
      <vt:lpstr>HellaSWAG https://rowanzellers.com/hellaswag/</vt:lpstr>
      <vt:lpstr>HellaSWAG https://rowanzellers.com/hellaswag/</vt:lpstr>
      <vt:lpstr>HellaSWAG https://rowanzellers.com/hellaswag/</vt:lpstr>
      <vt:lpstr>Outline</vt:lpstr>
      <vt:lpstr>Other Datasets</vt:lpstr>
      <vt:lpstr>PowerPoint Presentation</vt:lpstr>
      <vt:lpstr>Other Datasets MMLU</vt:lpstr>
      <vt:lpstr>Other Datasets MMLU</vt:lpstr>
      <vt:lpstr>Other Datasets ARC</vt:lpstr>
      <vt:lpstr>Other Datasets WinoGrande</vt:lpstr>
      <vt:lpstr>Other Datasets DROP</vt:lpstr>
      <vt:lpstr>Other Datasets GSM-8K</vt:lpstr>
      <vt:lpstr>Other Datasets BLiMP</vt:lpstr>
      <vt:lpstr>Other Datasets HumanEval</vt:lpstr>
      <vt:lpstr>Dynabench: Rethinking Benchmarking in NLP</vt:lpstr>
      <vt:lpstr>https://contextual.ai/plotting-progress-in-ai/ </vt:lpstr>
      <vt:lpstr>https://arcprize.org/</vt:lpstr>
      <vt:lpstr>References</vt:lpstr>
      <vt:lpstr>Humanity's Last Exam (HLE)</vt:lpstr>
      <vt:lpstr>Model Performance on HLE</vt:lpstr>
      <vt:lpstr>Category-wise Performance Breakdown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2023-02-22T16:32:21Z</dcterms:created>
  <dcterms:modified xsi:type="dcterms:W3CDTF">2026-04-23T04:40:23Z</dcterms:modified>
</cp:coreProperties>
</file>